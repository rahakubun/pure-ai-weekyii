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8F72E4E-A836-4EB0-A5FF-7C0B769D0776}"/>
              </a:ext>
            </a:extLst>
          </p:cNvPr>
          <p:cNvSpPr txBox="1"/>
          <p:nvPr/>
        </p:nvSpPr>
        <p:spPr>
          <a:xfrm>
            <a:off x="762000" y="609600"/>
            <a:ext cx="7239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B86B"/>
                </a:solidFill>
                <a:latin typeface="Menlo"/>
                <a:ea typeface="Menlo"/>
              </a:rPr>
              <a:t>TECHNICAL POSTMORTEM · 2026-10-25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8135569-0098-4952-AB06-A431F57D69F4}"/>
              </a:ext>
            </a:extLst>
          </p:cNvPr>
          <p:cNvSpPr txBox="1"/>
          <p:nvPr/>
        </p:nvSpPr>
        <p:spPr>
          <a:xfrm>
            <a:off x="762000" y="1028700"/>
            <a:ext cx="7429500" cy="1619250"/>
          </a:xfrm>
        </p:spPr>
        <p:txBody>
          <a:bodyPr wrap="square" rtlCol="0" lIns="0" tIns="0" rIns="0" bIns="0" anchor="t"/>
          <a:lstStyle/>
          <a:p>
            <a:pPr algn="l"/>
            <a:r>
              <a:rPr sz="9200" b="1">
                <a:solidFill>
                  <a:srgbClr val="F3F6F9"/>
                </a:solidFill>
                <a:latin typeface="PingFang SC"/>
                <a:ea typeface="PingFang SC"/>
              </a:rPr>
              <a:t>1MB 栈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2865A5-AB87-4132-827A-645FEE71EC85}"/>
              </a:ext>
            </a:extLst>
          </p:cNvPr>
          <p:cNvSpPr txBox="1"/>
          <p:nvPr/>
        </p:nvSpPr>
        <p:spPr>
          <a:xfrm>
            <a:off x="762000" y="2781300"/>
            <a:ext cx="7810500" cy="2286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6200" b="1">
                <a:solidFill>
                  <a:srgbClr val="FFB86B"/>
                </a:solidFill>
                <a:latin typeface="PingFang SC"/>
                <a:ea typeface="PingFang SC"/>
              </a:rPr>
              <a:t>被 5 路 switch</a:t>
            </a:r>
          </a:p>
          <a:p>
            <a:pPr algn="l">
              <a:lnSpc>
                <a:spcPct val="105000"/>
              </a:lnSpc>
            </a:pPr>
            <a:r>
              <a:rPr sz="6200" b="1">
                <a:solidFill>
                  <a:srgbClr val="FFB86B"/>
                </a:solidFill>
                <a:latin typeface="PingFang SC"/>
                <a:ea typeface="PingFang SC"/>
              </a:rPr>
              <a:t>撑爆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DF64530-141F-473F-83CC-F149AE055892}"/>
              </a:ext>
            </a:extLst>
          </p:cNvPr>
          <p:cNvSpPr txBox="1"/>
          <p:nvPr/>
        </p:nvSpPr>
        <p:spPr>
          <a:xfrm>
            <a:off x="762000" y="5295900"/>
            <a:ext cx="74295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>
                <a:solidFill>
                  <a:srgbClr val="C6D2DE"/>
                </a:solidFill>
                <a:latin typeface="PingFang SC"/>
                <a:ea typeface="PingFang SC"/>
              </a:rPr>
              <a:t>Weekyii 1.2 (3) · iOS 27 启动崩溃的定位、修复与验证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3485CAE-211C-4059-889E-080371824A1D}"/>
              </a:ext>
            </a:extLst>
          </p:cNvPr>
          <p:cNvSpPr/>
          <p:nvPr/>
        </p:nvSpPr>
        <p:spPr>
          <a:xfrm>
            <a:off x="762000" y="6324600"/>
            <a:ext cx="7239000" cy="9525"/>
          </a:xfrm>
          <a:prstGeom prst="rect">
            <a:avLst/>
          </a:prstGeom>
          <a:solidFill>
            <a:srgbClr val="273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0A29DCB-C29D-4B62-AB5E-00775DD0329F}"/>
              </a:ext>
            </a:extLst>
          </p:cNvPr>
          <p:cNvSpPr txBox="1"/>
          <p:nvPr/>
        </p:nvSpPr>
        <p:spPr>
          <a:xfrm>
            <a:off x="762000" y="6477000"/>
            <a:ext cx="9906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commit a051142 · TestFlight 1.2 (4) · iPhone 17 Pro Max / iOS 27.0.1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BF91BB-1D1F-4734-9F85-9D7ACE5EB39F}"/>
              </a:ext>
            </a:extLst>
          </p:cNvPr>
          <p:cNvSpPr txBox="1"/>
          <p:nvPr/>
        </p:nvSpPr>
        <p:spPr>
          <a:xfrm>
            <a:off x="8953500" y="1619250"/>
            <a:ext cx="28575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6000" b="1">
                <a:solidFill>
                  <a:srgbClr val="2E2319"/>
                </a:solidFill>
                <a:latin typeface="Menlo"/>
                <a:ea typeface="Menlo"/>
              </a:rPr>
              <a:t>11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3AC7628-E5ED-4029-B392-771FCD1D8D25}"/>
              </a:ext>
            </a:extLst>
          </p:cNvPr>
          <p:cNvSpPr txBox="1"/>
          <p:nvPr/>
        </p:nvSpPr>
        <p:spPr>
          <a:xfrm>
            <a:off x="8953500" y="5334000"/>
            <a:ext cx="2476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旧闭包一次性预留的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11 份类型大小栈缓冲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ED30C82-2461-44B8-841D-B551E92FA852}"/>
              </a:ext>
            </a:extLst>
          </p:cNvPr>
          <p:cNvSpPr txBox="1"/>
          <p:nvPr/>
        </p:nvSpPr>
        <p:spPr>
          <a:xfrm>
            <a:off x="762000" y="5334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01 / 事故摘要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C0A52E-030C-4E1D-86FD-0BA81D246322}"/>
              </a:ext>
            </a:extLst>
          </p:cNvPr>
          <p:cNvSpPr txBox="1"/>
          <p:nvPr/>
        </p:nvSpPr>
        <p:spPr>
          <a:xfrm>
            <a:off x="762000" y="781050"/>
            <a:ext cx="9525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两次启动崩溃，一次栈溢出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EBE1FA0-608A-4221-B3DD-72DDD82DE6B7}"/>
              </a:ext>
            </a:extLst>
          </p:cNvPr>
          <p:cNvSpPr txBox="1"/>
          <p:nvPr/>
        </p:nvSpPr>
        <p:spPr>
          <a:xfrm>
            <a:off x="762000" y="135255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同一次构建、同一台设备、同一分钟内两次；崩溃点不在业务代码，而在视图类型预算。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5A8CC0D-722A-4A55-BACA-E165609B2B45}"/>
              </a:ext>
            </a:extLst>
          </p:cNvPr>
          <p:cNvSpPr/>
          <p:nvPr/>
        </p:nvSpPr>
        <p:spPr>
          <a:xfrm>
            <a:off x="762000" y="1866900"/>
            <a:ext cx="2476500" cy="1714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CB758B5-AEFB-4774-94CE-013395616695}"/>
              </a:ext>
            </a:extLst>
          </p:cNvPr>
          <p:cNvSpPr txBox="1"/>
          <p:nvPr/>
        </p:nvSpPr>
        <p:spPr>
          <a:xfrm>
            <a:off x="971550" y="2095500"/>
            <a:ext cx="2057400" cy="701040"/>
          </a:xfrm>
        </p:spPr>
        <p:txBody>
          <a:bodyPr wrap="square" rtlCol="0" lIns="0" tIns="0" rIns="0" bIns="0" anchor="t"/>
          <a:lstStyle/>
          <a:p>
            <a:pPr algn="l"/>
            <a:r>
              <a:rPr sz="4600" b="1">
                <a:solidFill>
                  <a:srgbClr val="FFB86B"/>
                </a:solidFill>
                <a:latin typeface="Menlo"/>
                <a:ea typeface="Menlo"/>
              </a:rPr>
              <a:t>2</a:t>
            </a:r>
            <a:r>
              <a:rPr sz="1800" b="1">
                <a:solidFill>
                  <a:srgbClr val="FFB86B"/>
                </a:solidFill>
                <a:latin typeface="PingFang SC"/>
                <a:ea typeface="PingFang SC"/>
              </a:rPr>
              <a:t> 次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E8C16AE-3E41-430B-A883-AF054029C96B}"/>
              </a:ext>
            </a:extLst>
          </p:cNvPr>
          <p:cNvSpPr txBox="1"/>
          <p:nvPr/>
        </p:nvSpPr>
        <p:spPr>
          <a:xfrm>
            <a:off x="971550" y="2781300"/>
            <a:ext cx="2057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iOS 27 真机启动崩溃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3E42F6F-9C0D-41D5-9322-7C8935F24F68}"/>
              </a:ext>
            </a:extLst>
          </p:cNvPr>
          <p:cNvSpPr txBox="1"/>
          <p:nvPr/>
        </p:nvSpPr>
        <p:spPr>
          <a:xfrm>
            <a:off x="971550" y="3257550"/>
            <a:ext cx="20574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23:03 / 23:04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DB463CD-B5CD-4426-858D-36EA353B007F}"/>
              </a:ext>
            </a:extLst>
          </p:cNvPr>
          <p:cNvSpPr/>
          <p:nvPr/>
        </p:nvSpPr>
        <p:spPr>
          <a:xfrm>
            <a:off x="3429000" y="1866900"/>
            <a:ext cx="2476500" cy="1714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1F8E979-54F7-4B64-8A92-8B69FEA9236B}"/>
              </a:ext>
            </a:extLst>
          </p:cNvPr>
          <p:cNvSpPr txBox="1"/>
          <p:nvPr/>
        </p:nvSpPr>
        <p:spPr>
          <a:xfrm>
            <a:off x="3638550" y="2095500"/>
            <a:ext cx="2057400" cy="701040"/>
          </a:xfrm>
        </p:spPr>
        <p:txBody>
          <a:bodyPr wrap="square" rtlCol="0" lIns="0" tIns="0" rIns="0" bIns="0" anchor="t"/>
          <a:lstStyle/>
          <a:p>
            <a:pPr algn="l"/>
            <a:r>
              <a:rPr sz="4600" b="1">
                <a:solidFill>
                  <a:srgbClr val="FFB86B"/>
                </a:solidFill>
                <a:latin typeface="Menlo"/>
                <a:ea typeface="Menlo"/>
              </a:rPr>
              <a:t>1 MB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B7004E1-0606-40BD-BA9F-3A15B340040B}"/>
              </a:ext>
            </a:extLst>
          </p:cNvPr>
          <p:cNvSpPr txBox="1"/>
          <p:nvPr/>
        </p:nvSpPr>
        <p:spPr>
          <a:xfrm>
            <a:off x="3638550" y="2781300"/>
            <a:ext cx="2057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真机主线程栈上限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439B267-EC8B-48B7-A883-27E3F78AC984}"/>
              </a:ext>
            </a:extLst>
          </p:cNvPr>
          <p:cNvSpPr txBox="1"/>
          <p:nvPr/>
        </p:nvSpPr>
        <p:spPr>
          <a:xfrm>
            <a:off x="3638550" y="3257550"/>
            <a:ext cx="20574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可用 1,032,192 B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1FBADEB-195F-4669-AAF4-4006EF4678CC}"/>
              </a:ext>
            </a:extLst>
          </p:cNvPr>
          <p:cNvSpPr/>
          <p:nvPr/>
        </p:nvSpPr>
        <p:spPr>
          <a:xfrm>
            <a:off x="6096000" y="1866900"/>
            <a:ext cx="2476500" cy="1714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3E3B554-6FF1-4C1E-8ADE-C673374A5356}"/>
              </a:ext>
            </a:extLst>
          </p:cNvPr>
          <p:cNvSpPr txBox="1"/>
          <p:nvPr/>
        </p:nvSpPr>
        <p:spPr>
          <a:xfrm>
            <a:off x="6305550" y="2095500"/>
            <a:ext cx="2057400" cy="701040"/>
          </a:xfrm>
        </p:spPr>
        <p:txBody>
          <a:bodyPr wrap="square" rtlCol="0" lIns="0" tIns="0" rIns="0" bIns="0" anchor="t"/>
          <a:lstStyle/>
          <a:p>
            <a:pPr algn="l"/>
            <a:r>
              <a:rPr sz="4600" b="1">
                <a:solidFill>
                  <a:srgbClr val="FFB86B"/>
                </a:solidFill>
                <a:latin typeface="Menlo"/>
                <a:ea typeface="Menlo"/>
              </a:rPr>
              <a:t>11</a:t>
            </a:r>
            <a:r>
              <a:rPr sz="1800" b="1">
                <a:solidFill>
                  <a:srgbClr val="FFB86B"/>
                </a:solidFill>
                <a:latin typeface="PingFang SC"/>
                <a:ea typeface="PingFang SC"/>
              </a:rPr>
              <a:t> 份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E054368-06E8-49D3-9FDA-DC618B6B39B4}"/>
              </a:ext>
            </a:extLst>
          </p:cNvPr>
          <p:cNvSpPr txBox="1"/>
          <p:nvPr/>
        </p:nvSpPr>
        <p:spPr>
          <a:xfrm>
            <a:off x="6305550" y="2781300"/>
            <a:ext cx="2057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旧闭包预分配栈缓冲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ABEE196-CA3D-482B-A301-8C67354999BF}"/>
              </a:ext>
            </a:extLst>
          </p:cNvPr>
          <p:cNvSpPr txBox="1"/>
          <p:nvPr/>
        </p:nvSpPr>
        <p:spPr>
          <a:xfrm>
            <a:off x="6305550" y="3257550"/>
            <a:ext cx="20574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读 status 之前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BD19203-CDA9-4E6B-9C59-65F3B0929005}"/>
              </a:ext>
            </a:extLst>
          </p:cNvPr>
          <p:cNvSpPr/>
          <p:nvPr/>
        </p:nvSpPr>
        <p:spPr>
          <a:xfrm>
            <a:off x="8763000" y="1866900"/>
            <a:ext cx="2476500" cy="1714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6FD3E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6465318-8003-4126-A093-66990D72FB47}"/>
              </a:ext>
            </a:extLst>
          </p:cNvPr>
          <p:cNvSpPr txBox="1"/>
          <p:nvPr/>
        </p:nvSpPr>
        <p:spPr>
          <a:xfrm>
            <a:off x="8972550" y="2095500"/>
            <a:ext cx="2057400" cy="701040"/>
          </a:xfrm>
        </p:spPr>
        <p:txBody>
          <a:bodyPr wrap="square" rtlCol="0" lIns="0" tIns="0" rIns="0" bIns="0" anchor="t"/>
          <a:lstStyle/>
          <a:p>
            <a:pPr algn="l"/>
            <a:r>
              <a:rPr sz="4600" b="1">
                <a:solidFill>
                  <a:srgbClr val="6FD3E0"/>
                </a:solidFill>
                <a:latin typeface="Menlo"/>
                <a:ea typeface="Menlo"/>
              </a:rPr>
              <a:t>1</a:t>
            </a:r>
            <a:r>
              <a:rPr sz="1800" b="1">
                <a:solidFill>
                  <a:srgbClr val="6FD3E0"/>
                </a:solidFill>
                <a:latin typeface="PingFang SC"/>
                <a:ea typeface="PingFang SC"/>
              </a:rPr>
              <a:t> 份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20F0BD6-55BE-4D73-8728-841461A2DE23}"/>
              </a:ext>
            </a:extLst>
          </p:cNvPr>
          <p:cNvSpPr txBox="1"/>
          <p:nvPr/>
        </p:nvSpPr>
        <p:spPr>
          <a:xfrm>
            <a:off x="8972550" y="2781300"/>
            <a:ext cx="20574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修复后按需分配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123D565-CD88-4494-BB01-44B4F0C84D8C}"/>
              </a:ext>
            </a:extLst>
          </p:cNvPr>
          <p:cNvSpPr txBox="1"/>
          <p:nvPr/>
        </p:nvSpPr>
        <p:spPr>
          <a:xfrm>
            <a:off x="8972550" y="3257550"/>
            <a:ext cx="20574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只解析选中分支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5E8908DB-6AFF-43B7-9C56-DADB7471D548}"/>
              </a:ext>
            </a:extLst>
          </p:cNvPr>
          <p:cNvSpPr/>
          <p:nvPr/>
        </p:nvSpPr>
        <p:spPr>
          <a:xfrm>
            <a:off x="762000" y="3848100"/>
            <a:ext cx="10477500" cy="2209800"/>
          </a:xfrm>
          <a:prstGeom prst="roundRect">
            <a:avLst/>
          </a:prstGeom>
          <a:solidFill>
            <a:srgbClr val="101720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CCEE51F-E3E7-4106-A8F0-E89A5C52AC3E}"/>
              </a:ext>
            </a:extLst>
          </p:cNvPr>
          <p:cNvSpPr txBox="1"/>
          <p:nvPr/>
        </p:nvSpPr>
        <p:spPr>
          <a:xfrm>
            <a:off x="1028700" y="4076700"/>
            <a:ext cx="99441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6FD3E0"/>
                </a:solidFill>
                <a:latin typeface="PingFang SC"/>
                <a:ea typeface="PingFang SC"/>
              </a:rPr>
              <a:t>一句话结论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077245D-9E8C-4C85-8D02-505128C36B46}"/>
              </a:ext>
            </a:extLst>
          </p:cNvPr>
          <p:cNvSpPr txBox="1"/>
          <p:nvPr/>
        </p:nvSpPr>
        <p:spPr>
          <a:xfrm>
            <a:off x="1028700" y="4419600"/>
            <a:ext cx="99441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2100">
                <a:solidFill>
                  <a:srgbClr val="EDF2F7"/>
                </a:solidFill>
                <a:latin typeface="PingFang SC"/>
                <a:ea typeface="PingFang SC"/>
              </a:rPr>
              <a:t>编译器把 5 个状态视图的栈预算一次性押上了牌桌，类型一膨胀就越过 1MB 边界。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E6387EA-2100-432A-9DCC-12791453ACCE}"/>
              </a:ext>
            </a:extLst>
          </p:cNvPr>
          <p:cNvSpPr txBox="1"/>
          <p:nvPr/>
        </p:nvSpPr>
        <p:spPr>
          <a:xfrm>
            <a:off x="1028700" y="5429250"/>
            <a:ext cx="99441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B9AAA"/>
                </a:solidFill>
                <a:latin typeface="PingFang SC"/>
                <a:ea typeface="PingFang SC"/>
              </a:rPr>
              <a:t>证据链：栈保护页 → 64 帧完整回溯 → 反汇编 11 次 chkstk → 类型膨胀越过边界。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A35D168-FCB0-4A47-A265-3D95CE6990E3}"/>
              </a:ext>
            </a:extLst>
          </p:cNvPr>
          <p:cNvSpPr txBox="1"/>
          <p:nvPr/>
        </p:nvSpPr>
        <p:spPr>
          <a:xfrm>
            <a:off x="762000" y="65151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5F6E7E"/>
                </a:solidFill>
                <a:latin typeface="PingFang SC"/>
                <a:ea typeface="PingFang SC"/>
              </a:rPr>
              <a:t>Weekyii · 1.2 (3) 启动崩溃复盘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EE6D255-FC0C-4CB9-B7F8-550DBEE8D49B}"/>
              </a:ext>
            </a:extLst>
          </p:cNvPr>
          <p:cNvSpPr txBox="1"/>
          <p:nvPr/>
        </p:nvSpPr>
        <p:spPr>
          <a:xfrm>
            <a:off x="10858500" y="6515100"/>
            <a:ext cx="571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F6E7E"/>
                </a:solidFill>
                <a:latin typeface="Menlo"/>
                <a:ea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5A50E9A-3E36-475A-9A3B-0882B332ADF7}"/>
              </a:ext>
            </a:extLst>
          </p:cNvPr>
          <p:cNvSpPr/>
          <p:nvPr/>
        </p:nvSpPr>
        <p:spPr>
          <a:xfrm>
            <a:off x="857250" y="2743200"/>
            <a:ext cx="10477500" cy="9525"/>
          </a:xfrm>
          <a:prstGeom prst="rect">
            <a:avLst/>
          </a:prstGeom>
          <a:solidFill>
            <a:srgbClr val="273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DF77986-CF01-4E83-BEC3-3CC1F81AEAAC}"/>
              </a:ext>
            </a:extLst>
          </p:cNvPr>
          <p:cNvSpPr/>
          <p:nvPr/>
        </p:nvSpPr>
        <p:spPr>
          <a:xfrm>
            <a:off x="1733550" y="2676525"/>
            <a:ext cx="152400" cy="152400"/>
          </a:xfrm>
          <a:prstGeom prst="ellipse">
            <a:avLst/>
          </a:prstGeom>
          <a:solidFill>
            <a:srgbClr val="C6D2D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FE79E35-6FB4-46F5-8110-8C6FF99F6D59}"/>
              </a:ext>
            </a:extLst>
          </p:cNvPr>
          <p:cNvSpPr/>
          <p:nvPr/>
        </p:nvSpPr>
        <p:spPr>
          <a:xfrm>
            <a:off x="3876675" y="2676525"/>
            <a:ext cx="152400" cy="152400"/>
          </a:xfrm>
          <a:prstGeom prst="ellipse">
            <a:avLst/>
          </a:prstGeom>
          <a:solidFill>
            <a:srgbClr val="FFB86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1B76FB7-DED0-46E1-8427-1CDC0B365835}"/>
              </a:ext>
            </a:extLst>
          </p:cNvPr>
          <p:cNvSpPr/>
          <p:nvPr/>
        </p:nvSpPr>
        <p:spPr>
          <a:xfrm>
            <a:off x="6019800" y="2676525"/>
            <a:ext cx="152400" cy="152400"/>
          </a:xfrm>
          <a:prstGeom prst="ellipse">
            <a:avLst/>
          </a:prstGeom>
          <a:solidFill>
            <a:srgbClr val="6FD3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88304E6-C334-43CA-AC12-8B5AD4757E66}"/>
              </a:ext>
            </a:extLst>
          </p:cNvPr>
          <p:cNvSpPr/>
          <p:nvPr/>
        </p:nvSpPr>
        <p:spPr>
          <a:xfrm>
            <a:off x="8162925" y="2676525"/>
            <a:ext cx="152400" cy="152400"/>
          </a:xfrm>
          <a:prstGeom prst="ellipse">
            <a:avLst/>
          </a:prstGeom>
          <a:solidFill>
            <a:srgbClr val="6FD3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FAEF3C3-65BF-4B44-854A-9D72AF19F6DD}"/>
              </a:ext>
            </a:extLst>
          </p:cNvPr>
          <p:cNvSpPr/>
          <p:nvPr/>
        </p:nvSpPr>
        <p:spPr>
          <a:xfrm>
            <a:off x="10306050" y="2676525"/>
            <a:ext cx="152400" cy="152400"/>
          </a:xfrm>
          <a:prstGeom prst="ellipse">
            <a:avLst/>
          </a:prstGeom>
          <a:solidFill>
            <a:srgbClr val="6FD3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6551075-00C5-4EF7-BA7C-C0746005F27E}"/>
              </a:ext>
            </a:extLst>
          </p:cNvPr>
          <p:cNvSpPr/>
          <p:nvPr/>
        </p:nvSpPr>
        <p:spPr>
          <a:xfrm>
            <a:off x="857250" y="3048000"/>
            <a:ext cx="1905000" cy="16192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56C4A2C-B9E3-4B3B-8C24-056B3B4D08FC}"/>
              </a:ext>
            </a:extLst>
          </p:cNvPr>
          <p:cNvSpPr/>
          <p:nvPr/>
        </p:nvSpPr>
        <p:spPr>
          <a:xfrm>
            <a:off x="3000375" y="3048000"/>
            <a:ext cx="1905000" cy="16192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D994FC3-C2C7-4601-A88B-1788F8C7B5F6}"/>
              </a:ext>
            </a:extLst>
          </p:cNvPr>
          <p:cNvSpPr/>
          <p:nvPr/>
        </p:nvSpPr>
        <p:spPr>
          <a:xfrm>
            <a:off x="5143500" y="3048000"/>
            <a:ext cx="1905000" cy="16192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1C2F4A3-7738-433B-8DFD-B510883FD5F2}"/>
              </a:ext>
            </a:extLst>
          </p:cNvPr>
          <p:cNvSpPr/>
          <p:nvPr/>
        </p:nvSpPr>
        <p:spPr>
          <a:xfrm>
            <a:off x="7286625" y="3048000"/>
            <a:ext cx="1905000" cy="16192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AE29375-0CD3-404A-B97E-6F26DD7E9B6E}"/>
              </a:ext>
            </a:extLst>
          </p:cNvPr>
          <p:cNvSpPr/>
          <p:nvPr/>
        </p:nvSpPr>
        <p:spPr>
          <a:xfrm>
            <a:off x="9429750" y="3048000"/>
            <a:ext cx="1905000" cy="16192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F8E06F6-D8D4-4949-88AF-68106718A2FC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02 / 时间线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3FA4C0-DC0E-4A53-9EFC-7C336C175860}"/>
              </a:ext>
            </a:extLst>
          </p:cNvPr>
          <p:cNvSpPr txBox="1"/>
          <p:nvPr/>
        </p:nvSpPr>
        <p:spPr>
          <a:xfrm>
            <a:off x="762000" y="781050"/>
            <a:ext cx="95250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从归档到上传，5 小时 29 分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2C0FC0F-376F-43C4-8A4F-EF96C260FF91}"/>
              </a:ext>
            </a:extLst>
          </p:cNvPr>
          <p:cNvSpPr txBox="1"/>
          <p:nvPr/>
        </p:nvSpPr>
        <p:spPr>
          <a:xfrm>
            <a:off x="762000" y="139065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2026-10-24 22:55 → 2026-10-25 01:24；中间只有一次根因判断和一次结构性修复。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C78E62D-2C1F-4093-83CF-BB5249E2F696}"/>
              </a:ext>
            </a:extLst>
          </p:cNvPr>
          <p:cNvSpPr txBox="1"/>
          <p:nvPr/>
        </p:nvSpPr>
        <p:spPr>
          <a:xfrm>
            <a:off x="857250" y="1866900"/>
            <a:ext cx="1905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2000">
                <a:solidFill>
                  <a:srgbClr val="C6D2DE"/>
                </a:solidFill>
                <a:latin typeface="Menlo"/>
                <a:ea typeface="Menlo"/>
              </a:rPr>
              <a:t>22:55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FFE69EB-7D42-4796-9FC7-E259BCEAC5C4}"/>
              </a:ext>
            </a:extLst>
          </p:cNvPr>
          <p:cNvSpPr txBox="1"/>
          <p:nvPr/>
        </p:nvSpPr>
        <p:spPr>
          <a:xfrm>
            <a:off x="3000375" y="1866900"/>
            <a:ext cx="1905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2000" b="1">
                <a:solidFill>
                  <a:srgbClr val="FFB86B"/>
                </a:solidFill>
                <a:latin typeface="Menlo"/>
                <a:ea typeface="Menlo"/>
              </a:rPr>
              <a:t>23:03 / 23:04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9FB3AE5-8324-4A91-B1B8-23F97D3EE661}"/>
              </a:ext>
            </a:extLst>
          </p:cNvPr>
          <p:cNvSpPr txBox="1"/>
          <p:nvPr/>
        </p:nvSpPr>
        <p:spPr>
          <a:xfrm>
            <a:off x="5143500" y="1866900"/>
            <a:ext cx="1905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2000">
                <a:solidFill>
                  <a:srgbClr val="6FD3E0"/>
                </a:solidFill>
                <a:latin typeface="Menlo"/>
                <a:ea typeface="Menlo"/>
              </a:rPr>
              <a:t>00:55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D73FB76-6A95-4C44-9908-A6EF0FDD3FBC}"/>
              </a:ext>
            </a:extLst>
          </p:cNvPr>
          <p:cNvSpPr txBox="1"/>
          <p:nvPr/>
        </p:nvSpPr>
        <p:spPr>
          <a:xfrm>
            <a:off x="7286625" y="1866900"/>
            <a:ext cx="1905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2000">
                <a:solidFill>
                  <a:srgbClr val="6FD3E0"/>
                </a:solidFill>
                <a:latin typeface="Menlo"/>
                <a:ea typeface="Menlo"/>
              </a:rPr>
              <a:t>01:04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CCA0C88-9824-46B1-9F89-0F9C2261A919}"/>
              </a:ext>
            </a:extLst>
          </p:cNvPr>
          <p:cNvSpPr txBox="1"/>
          <p:nvPr/>
        </p:nvSpPr>
        <p:spPr>
          <a:xfrm>
            <a:off x="9429750" y="1866900"/>
            <a:ext cx="19050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2000">
                <a:solidFill>
                  <a:srgbClr val="6FD3E0"/>
                </a:solidFill>
                <a:latin typeface="Menlo"/>
                <a:ea typeface="Menlo"/>
              </a:rPr>
              <a:t>01:24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38B3394-AC20-4EC4-809C-D2FF34F4CF97}"/>
              </a:ext>
            </a:extLst>
          </p:cNvPr>
          <p:cNvSpPr txBox="1"/>
          <p:nvPr/>
        </p:nvSpPr>
        <p:spPr>
          <a:xfrm>
            <a:off x="1009650" y="3257550"/>
            <a:ext cx="16002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EDF2F7"/>
                </a:solidFill>
                <a:latin typeface="PingFang SC"/>
                <a:ea typeface="PingFang SC"/>
              </a:rPr>
              <a:t>归档 1.2 (3)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CD583C0-BD95-4B1E-9F5B-3587056F9335}"/>
              </a:ext>
            </a:extLst>
          </p:cNvPr>
          <p:cNvSpPr txBox="1"/>
          <p:nvPr/>
        </p:nvSpPr>
        <p:spPr>
          <a:xfrm>
            <a:off x="1009650" y="3600450"/>
            <a:ext cx="16002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Weekyii Beta scheme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Archive 1.2 (3)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0E2B13D-F215-47B5-8EE7-877B6B807EB6}"/>
              </a:ext>
            </a:extLst>
          </p:cNvPr>
          <p:cNvSpPr txBox="1"/>
          <p:nvPr/>
        </p:nvSpPr>
        <p:spPr>
          <a:xfrm>
            <a:off x="3152775" y="3257550"/>
            <a:ext cx="16002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FB86B"/>
                </a:solidFill>
                <a:latin typeface="PingFang SC"/>
                <a:ea typeface="PingFang SC"/>
              </a:rPr>
              <a:t>两次启动崩溃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EBFB409-1316-443C-83FD-FBFA939004C9}"/>
              </a:ext>
            </a:extLst>
          </p:cNvPr>
          <p:cNvSpPr txBox="1"/>
          <p:nvPr/>
        </p:nvSpPr>
        <p:spPr>
          <a:xfrm>
            <a:off x="3152775" y="3600450"/>
            <a:ext cx="16002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iPhone 17 Pro Max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iOS 27.0.1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同分钟连续两次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D238469-CDB5-4375-A79D-D642B4CFB662}"/>
              </a:ext>
            </a:extLst>
          </p:cNvPr>
          <p:cNvSpPr txBox="1"/>
          <p:nvPr/>
        </p:nvSpPr>
        <p:spPr>
          <a:xfrm>
            <a:off x="5295900" y="3257550"/>
            <a:ext cx="16002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EDF2F7"/>
                </a:solidFill>
                <a:latin typeface="PingFang SC"/>
                <a:ea typeface="PingFang SC"/>
              </a:rPr>
              <a:t>修复推送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278D3CD-704E-4FF9-B0EC-DB6D8954D83D}"/>
              </a:ext>
            </a:extLst>
          </p:cNvPr>
          <p:cNvSpPr txBox="1"/>
          <p:nvPr/>
        </p:nvSpPr>
        <p:spPr>
          <a:xfrm>
            <a:off x="5295900" y="3600450"/>
            <a:ext cx="16002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commit a051142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只改 TodayView.swift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377B59F-83EC-4E97-BBAF-1A8098F70D9A}"/>
              </a:ext>
            </a:extLst>
          </p:cNvPr>
          <p:cNvSpPr txBox="1"/>
          <p:nvPr/>
        </p:nvSpPr>
        <p:spPr>
          <a:xfrm>
            <a:off x="7439025" y="3257550"/>
            <a:ext cx="16002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EDF2F7"/>
                </a:solidFill>
                <a:latin typeface="PingFang SC"/>
                <a:ea typeface="PingFang SC"/>
              </a:rPr>
              <a:t>真机编译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8AB01E5-EE59-4A04-8A6F-35AC7FF79290}"/>
              </a:ext>
            </a:extLst>
          </p:cNvPr>
          <p:cNvSpPr txBox="1"/>
          <p:nvPr/>
        </p:nvSpPr>
        <p:spPr>
          <a:xfrm>
            <a:off x="7439025" y="3600450"/>
            <a:ext cx="16002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Release 真机构建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反汇编逐段核对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9790C78-2BB9-4C67-8825-2B34B3804166}"/>
              </a:ext>
            </a:extLst>
          </p:cNvPr>
          <p:cNvSpPr txBox="1"/>
          <p:nvPr/>
        </p:nvSpPr>
        <p:spPr>
          <a:xfrm>
            <a:off x="9582150" y="3257550"/>
            <a:ext cx="16002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6FD3E0"/>
                </a:solidFill>
                <a:latin typeface="PingFang SC"/>
                <a:ea typeface="PingFang SC"/>
              </a:rPr>
              <a:t>上传 TestFlight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72958CD-3614-4596-B936-E99C4C1DFC81}"/>
              </a:ext>
            </a:extLst>
          </p:cNvPr>
          <p:cNvSpPr txBox="1"/>
          <p:nvPr/>
        </p:nvSpPr>
        <p:spPr>
          <a:xfrm>
            <a:off x="9582150" y="3600450"/>
            <a:ext cx="16002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构建号 3 → 4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ASC 处理完成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EC2B663A-60AD-4662-ADB1-4E1405FAC122}"/>
              </a:ext>
            </a:extLst>
          </p:cNvPr>
          <p:cNvSpPr/>
          <p:nvPr/>
        </p:nvSpPr>
        <p:spPr>
          <a:xfrm>
            <a:off x="857250" y="5219700"/>
            <a:ext cx="10477500" cy="7239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D8AD7B2-C3EE-4C14-B18A-A808101D9B9E}"/>
              </a:ext>
            </a:extLst>
          </p:cNvPr>
          <p:cNvSpPr txBox="1"/>
          <p:nvPr/>
        </p:nvSpPr>
        <p:spPr>
          <a:xfrm>
            <a:off x="1162050" y="5467350"/>
            <a:ext cx="9906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C6D2DE"/>
                </a:solidFill>
                <a:latin typeface="PingFang SC"/>
                <a:ea typeface="PingFang SC"/>
              </a:rPr>
              <a:t>5 小时 29 分：从第一次崩溃到新构建可安装，中间没有一次靠猜测。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D0B0663-B052-4DA2-B014-C0811C21B1BC}"/>
              </a:ext>
            </a:extLst>
          </p:cNvPr>
          <p:cNvSpPr txBox="1"/>
          <p:nvPr/>
        </p:nvSpPr>
        <p:spPr>
          <a:xfrm>
            <a:off x="10668000" y="643890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264470B-EBED-45A2-9C1B-CBAD5C34352B}"/>
              </a:ext>
            </a:extLst>
          </p:cNvPr>
          <p:cNvSpPr/>
          <p:nvPr/>
        </p:nvSpPr>
        <p:spPr>
          <a:xfrm>
            <a:off x="762000" y="1905000"/>
            <a:ext cx="4953000" cy="3810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06E935A-DFBB-44B3-8227-7D458CFAD195}"/>
              </a:ext>
            </a:extLst>
          </p:cNvPr>
          <p:cNvSpPr/>
          <p:nvPr/>
        </p:nvSpPr>
        <p:spPr>
          <a:xfrm>
            <a:off x="6286500" y="1905000"/>
            <a:ext cx="5143500" cy="3810000"/>
          </a:xfrm>
          <a:prstGeom prst="roundRect">
            <a:avLst/>
          </a:prstGeom>
          <a:solidFill>
            <a:srgbClr val="0A0F14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2AB33D-326D-4EA2-BC62-427B90505A4E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03 / 崩溃现场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3CB29E-9F30-4F58-9898-F2A1D96157E8}"/>
              </a:ext>
            </a:extLst>
          </p:cNvPr>
          <p:cNvSpPr txBox="1"/>
          <p:nvPr/>
        </p:nvSpPr>
        <p:spPr>
          <a:xfrm>
            <a:off x="762000" y="781050"/>
            <a:ext cx="95250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不是野指针，是栈溢出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A085D6-410F-4328-A697-19F54D1DBDCE}"/>
              </a:ext>
            </a:extLst>
          </p:cNvPr>
          <p:cNvSpPr txBox="1"/>
          <p:nvPr/>
        </p:nvSpPr>
        <p:spPr>
          <a:xfrm>
            <a:off x="762000" y="139065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EXC_BAD_ACCESS 只是表象；真正的原因是主线程栈在启动阶段被提前占满。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B71751-C9D1-4602-95FE-7F1F8204EADE}"/>
              </a:ext>
            </a:extLst>
          </p:cNvPr>
          <p:cNvSpPr txBox="1"/>
          <p:nvPr/>
        </p:nvSpPr>
        <p:spPr>
          <a:xfrm>
            <a:off x="1028700" y="219075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PingFang SC"/>
                <a:ea typeface="PingFang SC"/>
              </a:rPr>
              <a:t>异常摘要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187BFA8-7FF3-42CF-9786-F9716778C54A}"/>
              </a:ext>
            </a:extLst>
          </p:cNvPr>
          <p:cNvSpPr txBox="1"/>
          <p:nvPr/>
        </p:nvSpPr>
        <p:spPr>
          <a:xfrm>
            <a:off x="1028700" y="2609850"/>
            <a:ext cx="152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异常类型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2DEC3B-86D7-4B61-A19C-6C9383585847}"/>
              </a:ext>
            </a:extLst>
          </p:cNvPr>
          <p:cNvSpPr txBox="1"/>
          <p:nvPr/>
        </p:nvSpPr>
        <p:spPr>
          <a:xfrm>
            <a:off x="2571750" y="2609850"/>
            <a:ext cx="2952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EDF2F7"/>
                </a:solidFill>
                <a:latin typeface="Menlo"/>
                <a:ea typeface="Menlo"/>
              </a:rPr>
              <a:t>EXC_BAD_ACCESS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D44F649-802A-41DE-AD78-84890C0E5087}"/>
              </a:ext>
            </a:extLst>
          </p:cNvPr>
          <p:cNvSpPr txBox="1"/>
          <p:nvPr/>
        </p:nvSpPr>
        <p:spPr>
          <a:xfrm>
            <a:off x="1028700" y="3048000"/>
            <a:ext cx="152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崩溃线程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43F0AC1-26B1-4CC5-B137-5B586123765B}"/>
              </a:ext>
            </a:extLst>
          </p:cNvPr>
          <p:cNvSpPr txBox="1"/>
          <p:nvPr/>
        </p:nvSpPr>
        <p:spPr>
          <a:xfrm>
            <a:off x="2571750" y="3048000"/>
            <a:ext cx="2952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EDF2F7"/>
                </a:solidFill>
                <a:latin typeface="PingFang SC"/>
                <a:ea typeface="PingFang SC"/>
              </a:rPr>
              <a:t>Thread 0（主线程）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D07417-B602-4118-9ABF-E2D5D7C76B48}"/>
              </a:ext>
            </a:extLst>
          </p:cNvPr>
          <p:cNvSpPr txBox="1"/>
          <p:nvPr/>
        </p:nvSpPr>
        <p:spPr>
          <a:xfrm>
            <a:off x="1028700" y="3486150"/>
            <a:ext cx="152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栈指针 SP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CF6BF7-9FA3-4D0D-9085-F51B9B7C3110}"/>
              </a:ext>
            </a:extLst>
          </p:cNvPr>
          <p:cNvSpPr txBox="1"/>
          <p:nvPr/>
        </p:nvSpPr>
        <p:spPr>
          <a:xfrm>
            <a:off x="2571750" y="3486150"/>
            <a:ext cx="2952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EDF2F7"/>
                </a:solidFill>
                <a:latin typeface="Menlo"/>
                <a:ea typeface="Menlo"/>
              </a:rPr>
              <a:t>0x16f8d3c90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827038-7797-4865-B68C-279F26124E70}"/>
              </a:ext>
            </a:extLst>
          </p:cNvPr>
          <p:cNvSpPr txBox="1"/>
          <p:nvPr/>
        </p:nvSpPr>
        <p:spPr>
          <a:xfrm>
            <a:off x="1028700" y="3924300"/>
            <a:ext cx="152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栈保护页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51B385E-EE40-453F-8ABC-F4C193BC8DF0}"/>
              </a:ext>
            </a:extLst>
          </p:cNvPr>
          <p:cNvSpPr txBox="1"/>
          <p:nvPr/>
        </p:nvSpPr>
        <p:spPr>
          <a:xfrm>
            <a:off x="2571750" y="3924300"/>
            <a:ext cx="2952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EDF2F7"/>
                </a:solidFill>
                <a:latin typeface="Menlo"/>
                <a:ea typeface="Menlo"/>
              </a:rPr>
              <a:t>0x16f8d0000–0x16f8d4000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295624A-7B88-47F7-B24C-CBC01DC569DC}"/>
              </a:ext>
            </a:extLst>
          </p:cNvPr>
          <p:cNvSpPr txBox="1"/>
          <p:nvPr/>
        </p:nvSpPr>
        <p:spPr>
          <a:xfrm>
            <a:off x="1028700" y="4362450"/>
            <a:ext cx="152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栈已用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E775B17-2253-4DC8-9F2B-13B91C9992F0}"/>
              </a:ext>
            </a:extLst>
          </p:cNvPr>
          <p:cNvSpPr txBox="1"/>
          <p:nvPr/>
        </p:nvSpPr>
        <p:spPr>
          <a:xfrm>
            <a:off x="2571750" y="4362450"/>
            <a:ext cx="2952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B86B"/>
                </a:solidFill>
                <a:latin typeface="Menlo"/>
                <a:ea typeface="Menlo"/>
              </a:rPr>
              <a:t>1,033,072 B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387DD5D-8038-429B-AA8A-451288995CF5}"/>
              </a:ext>
            </a:extLst>
          </p:cNvPr>
          <p:cNvSpPr txBox="1"/>
          <p:nvPr/>
        </p:nvSpPr>
        <p:spPr>
          <a:xfrm>
            <a:off x="1028700" y="4800600"/>
            <a:ext cx="152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栈可用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6AF9839-E4FF-4329-9D20-497C36636136}"/>
              </a:ext>
            </a:extLst>
          </p:cNvPr>
          <p:cNvSpPr txBox="1"/>
          <p:nvPr/>
        </p:nvSpPr>
        <p:spPr>
          <a:xfrm>
            <a:off x="2571750" y="4800600"/>
            <a:ext cx="29527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B86B"/>
                </a:solidFill>
                <a:latin typeface="Menlo"/>
                <a:ea typeface="Menlo"/>
              </a:rPr>
              <a:t>1,032,192 B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5FED2D0-4F65-499B-AD9D-5EA1BE610427}"/>
              </a:ext>
            </a:extLst>
          </p:cNvPr>
          <p:cNvSpPr txBox="1"/>
          <p:nvPr/>
        </p:nvSpPr>
        <p:spPr>
          <a:xfrm>
            <a:off x="1028700" y="521970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FB86B"/>
                </a:solidFill>
                <a:latin typeface="PingFang SC"/>
                <a:ea typeface="PingFang SC"/>
              </a:rPr>
              <a:t>已用 − 可用 = 880 B，越过边界后直接撞上保护页。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0E4C1DC-4E90-4C72-99DE-E09196996727}"/>
              </a:ext>
            </a:extLst>
          </p:cNvPr>
          <p:cNvSpPr txBox="1"/>
          <p:nvPr/>
        </p:nvSpPr>
        <p:spPr>
          <a:xfrm>
            <a:off x="6553200" y="21907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Menlo"/>
                <a:ea typeface="Menlo"/>
              </a:rPr>
              <a:t>EXCEPTION REPORT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EA69B8F-B61C-4466-8193-45F8FA604817}"/>
              </a:ext>
            </a:extLst>
          </p:cNvPr>
          <p:cNvSpPr txBox="1"/>
          <p:nvPr/>
        </p:nvSpPr>
        <p:spPr>
          <a:xfrm>
            <a:off x="6553200" y="2533650"/>
            <a:ext cx="4572000" cy="2476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Exception Type: </a:t>
            </a:r>
            <a:r>
              <a:rPr sz="1300">
                <a:solidFill>
                  <a:srgbClr val="EDF2F7"/>
                </a:solidFill>
                <a:latin typeface="Menlo"/>
                <a:ea typeface="Menlo"/>
              </a:rPr>
              <a:t>EXC_BAD_ACCESS</a:t>
            </a:r>
            <a:br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Triggered by:   </a:t>
            </a:r>
            <a:r>
              <a:rPr sz="1300">
                <a:solidFill>
                  <a:srgbClr val="EDF2F7"/>
                </a:solidFill>
                <a:latin typeface="Menlo"/>
                <a:ea typeface="Menlo"/>
              </a:rPr>
              <a:t>Thread 0</a:t>
            </a:r>
            <a:br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SP:             </a:t>
            </a:r>
            <a:r>
              <a:rPr sz="1300">
                <a:solidFill>
                  <a:srgbClr val="EDF2F7"/>
                </a:solidFill>
                <a:latin typeface="Menlo"/>
                <a:ea typeface="Menlo"/>
              </a:rPr>
              <a:t>0x16f8d3c90</a:t>
            </a:r>
            <a:br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guard:          </a:t>
            </a:r>
            <a:r>
              <a:rPr sz="1300">
                <a:solidFill>
                  <a:srgbClr val="EDF2F7"/>
                </a:solidFill>
                <a:latin typeface="Menlo"/>
                <a:ea typeface="Menlo"/>
              </a:rPr>
              <a:t>0x16f8d0000</a:t>
            </a:r>
            <a:br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                </a:t>
            </a:r>
            <a:r>
              <a:rPr sz="1300">
                <a:solidFill>
                  <a:srgbClr val="EDF2F7"/>
                </a:solidFill>
                <a:latin typeface="Menlo"/>
                <a:ea typeface="Menlo"/>
              </a:rPr>
              <a:t>0x16f8d4000</a:t>
            </a:r>
            <a:br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used:           </a:t>
            </a:r>
            <a:r>
              <a:rPr sz="1300">
                <a:solidFill>
                  <a:srgbClr val="FFB86B"/>
                </a:solidFill>
                <a:latin typeface="Menlo"/>
                <a:ea typeface="Menlo"/>
              </a:rPr>
              <a:t>1,033,072 B</a:t>
            </a:r>
            <a:br/>
            <a:r>
              <a:rPr sz="1300">
                <a:solidFill>
                  <a:srgbClr val="8B9AAA"/>
                </a:solidFill>
                <a:latin typeface="Menlo"/>
                <a:ea typeface="Menlo"/>
              </a:rPr>
              <a:t>limit:          </a:t>
            </a:r>
            <a:r>
              <a:rPr sz="1300">
                <a:solidFill>
                  <a:srgbClr val="FFB86B"/>
                </a:solidFill>
                <a:latin typeface="Menlo"/>
                <a:ea typeface="Menlo"/>
              </a:rPr>
              <a:t>1,032,192 B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BB2B962-264C-4CE3-ADD1-B4114C9CEF82}"/>
              </a:ext>
            </a:extLst>
          </p:cNvPr>
          <p:cNvSpPr/>
          <p:nvPr/>
        </p:nvSpPr>
        <p:spPr>
          <a:xfrm>
            <a:off x="762000" y="5848350"/>
            <a:ext cx="9525000" cy="571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1FDCE7A-714D-4E55-BD21-263670C12FDD}"/>
              </a:ext>
            </a:extLst>
          </p:cNvPr>
          <p:cNvSpPr txBox="1"/>
          <p:nvPr/>
        </p:nvSpPr>
        <p:spPr>
          <a:xfrm>
            <a:off x="1028700" y="6000750"/>
            <a:ext cx="914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判据：SP 落在保护页内，且已用量超过上限 —— 这是栈溢出，而不是对象被释放后的野指针。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C2B5A1A-A3D5-4030-958B-67DC77975422}"/>
              </a:ext>
            </a:extLst>
          </p:cNvPr>
          <p:cNvSpPr txBox="1"/>
          <p:nvPr/>
        </p:nvSpPr>
        <p:spPr>
          <a:xfrm>
            <a:off x="10668000" y="643890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C05839F-8C29-402E-ABBF-33635B9F1B78}"/>
              </a:ext>
            </a:extLst>
          </p:cNvPr>
          <p:cNvSpPr/>
          <p:nvPr/>
        </p:nvSpPr>
        <p:spPr>
          <a:xfrm>
            <a:off x="7620000" y="1905000"/>
            <a:ext cx="3810000" cy="4191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C80356C-217B-4AC5-9690-4BBA777418F5}"/>
              </a:ext>
            </a:extLst>
          </p:cNvPr>
          <p:cNvSpPr/>
          <p:nvPr/>
        </p:nvSpPr>
        <p:spPr>
          <a:xfrm>
            <a:off x="762000" y="6096000"/>
            <a:ext cx="9525000" cy="4572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C7896DC-41CF-43D3-AEBE-0EBE8EE067CA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04 / 排查路径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416643D-E046-480B-B8EB-98029947233E}"/>
              </a:ext>
            </a:extLst>
          </p:cNvPr>
          <p:cNvSpPr txBox="1"/>
          <p:nvPr/>
        </p:nvSpPr>
        <p:spPr>
          <a:xfrm>
            <a:off x="762000" y="781050"/>
            <a:ext cx="95250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四步从现象走到机制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01EADF-5D6F-467A-8FC4-4A2FCCB14B1D}"/>
              </a:ext>
            </a:extLst>
          </p:cNvPr>
          <p:cNvSpPr txBox="1"/>
          <p:nvPr/>
        </p:nvSpPr>
        <p:spPr>
          <a:xfrm>
            <a:off x="762000" y="139065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每一步只回答一个问题，并且必须拿到可核对的证据才往下走。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002141-C5E3-4976-9528-9F53C29025FE}"/>
              </a:ext>
            </a:extLst>
          </p:cNvPr>
          <p:cNvSpPr txBox="1"/>
          <p:nvPr/>
        </p:nvSpPr>
        <p:spPr>
          <a:xfrm>
            <a:off x="762000" y="1866900"/>
            <a:ext cx="57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>
                <a:solidFill>
                  <a:srgbClr val="FFB86B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6A00043-F868-48F3-AC2F-741F73BF73F7}"/>
              </a:ext>
            </a:extLst>
          </p:cNvPr>
          <p:cNvSpPr txBox="1"/>
          <p:nvPr/>
        </p:nvSpPr>
        <p:spPr>
          <a:xfrm>
            <a:off x="1428750" y="1885950"/>
            <a:ext cx="5334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确认崩溃类型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91D26E2-428A-4E46-AF29-4690A22E2E1E}"/>
              </a:ext>
            </a:extLst>
          </p:cNvPr>
          <p:cNvSpPr txBox="1"/>
          <p:nvPr/>
        </p:nvSpPr>
        <p:spPr>
          <a:xfrm>
            <a:off x="1428750" y="2228850"/>
            <a:ext cx="58102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EXC_BAD_ACCESS 只说明「访问了不能访问的地址」。先验证 SP 是否仍落在合法栈范围内。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87C0878-8AF8-460F-A66A-0F97E2F009AC}"/>
              </a:ext>
            </a:extLst>
          </p:cNvPr>
          <p:cNvSpPr txBox="1"/>
          <p:nvPr/>
        </p:nvSpPr>
        <p:spPr>
          <a:xfrm>
            <a:off x="762000" y="2914650"/>
            <a:ext cx="57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>
                <a:solidFill>
                  <a:srgbClr val="FFB86B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20DF43-12D3-4C70-9B64-47162E973B18}"/>
              </a:ext>
            </a:extLst>
          </p:cNvPr>
          <p:cNvSpPr txBox="1"/>
          <p:nvPr/>
        </p:nvSpPr>
        <p:spPr>
          <a:xfrm>
            <a:off x="1428750" y="2933700"/>
            <a:ext cx="581025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用同构建号 dSYM 符号化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57DE657-0304-44C2-845B-735729822EAE}"/>
              </a:ext>
            </a:extLst>
          </p:cNvPr>
          <p:cNvSpPr txBox="1"/>
          <p:nvPr/>
        </p:nvSpPr>
        <p:spPr>
          <a:xfrm>
            <a:off x="1428750" y="3276600"/>
            <a:ext cx="58102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只有同一次构建的 dSYM 才能还原真机栈；用相近版本号凑符号会把方向带歪。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86A7360-069F-4DC2-8718-B554CE153C25}"/>
              </a:ext>
            </a:extLst>
          </p:cNvPr>
          <p:cNvSpPr txBox="1"/>
          <p:nvPr/>
        </p:nvSpPr>
        <p:spPr>
          <a:xfrm>
            <a:off x="762000" y="3962400"/>
            <a:ext cx="57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>
                <a:solidFill>
                  <a:srgbClr val="FFB86B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75C2A9D-1144-47CA-B789-135CD30EA048}"/>
              </a:ext>
            </a:extLst>
          </p:cNvPr>
          <p:cNvSpPr txBox="1"/>
          <p:nvPr/>
        </p:nvSpPr>
        <p:spPr>
          <a:xfrm>
            <a:off x="1428750" y="3981450"/>
            <a:ext cx="581025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回溯调用链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7CCEC06-3FF8-4666-B82F-3B7415A5B156}"/>
              </a:ext>
            </a:extLst>
          </p:cNvPr>
          <p:cNvSpPr txBox="1"/>
          <p:nvPr/>
        </p:nvSpPr>
        <p:spPr>
          <a:xfrm>
            <a:off x="1428750" y="4324350"/>
            <a:ext cx="58102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栈顶反复落在 TodayView 的视图构建闭包上，而不是数据层；这排除了数据损坏与并发写。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F4CE4F8-E086-4EFB-9E16-FCBEE3DEFEAC}"/>
              </a:ext>
            </a:extLst>
          </p:cNvPr>
          <p:cNvSpPr txBox="1"/>
          <p:nvPr/>
        </p:nvSpPr>
        <p:spPr>
          <a:xfrm>
            <a:off x="762000" y="5010150"/>
            <a:ext cx="5715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2600">
                <a:solidFill>
                  <a:srgbClr val="FFB86B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33D6E90-F4AE-4D03-8F07-47E2D5B747B1}"/>
              </a:ext>
            </a:extLst>
          </p:cNvPr>
          <p:cNvSpPr txBox="1"/>
          <p:nvPr/>
        </p:nvSpPr>
        <p:spPr>
          <a:xfrm>
            <a:off x="1428750" y="5029200"/>
            <a:ext cx="581025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反汇编取证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60AACC0-1874-413F-A07F-DB014AC75562}"/>
              </a:ext>
            </a:extLst>
          </p:cNvPr>
          <p:cNvSpPr txBox="1"/>
          <p:nvPr/>
        </p:nvSpPr>
        <p:spPr>
          <a:xfrm>
            <a:off x="1428750" y="5372100"/>
            <a:ext cx="58102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在 Release 二进制里数 chkstk 与 sub sp：11 次栈探测全部早于读取 day.status。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FA052BB-FA5C-46D3-9E98-6117E910FB41}"/>
              </a:ext>
            </a:extLst>
          </p:cNvPr>
          <p:cNvSpPr txBox="1"/>
          <p:nvPr/>
        </p:nvSpPr>
        <p:spPr>
          <a:xfrm>
            <a:off x="7886700" y="219075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Menlo"/>
                <a:ea typeface="Menlo"/>
              </a:rPr>
              <a:t>EVIDENCE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957E40A-947E-4AC3-BB3B-AE91C97D5E7D}"/>
              </a:ext>
            </a:extLst>
          </p:cNvPr>
          <p:cNvSpPr txBox="1"/>
          <p:nvPr/>
        </p:nvSpPr>
        <p:spPr>
          <a:xfrm>
            <a:off x="7886700" y="2590800"/>
            <a:ext cx="3238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C6D2DE"/>
                </a:solidFill>
                <a:latin typeface="PingFang SC"/>
                <a:ea typeface="PingFang SC"/>
              </a:rPr>
              <a:t>崩溃日志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2FCB34E-AC5F-4BE6-B936-92ADE0646E63}"/>
              </a:ext>
            </a:extLst>
          </p:cNvPr>
          <p:cNvSpPr txBox="1"/>
          <p:nvPr/>
        </p:nvSpPr>
        <p:spPr>
          <a:xfrm>
            <a:off x="7886700" y="2838450"/>
            <a:ext cx="3238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1.2 (3) 真机 .ips，同分钟两次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68181C1-C090-416E-A1E5-69BB20A051E1}"/>
              </a:ext>
            </a:extLst>
          </p:cNvPr>
          <p:cNvSpPr txBox="1"/>
          <p:nvPr/>
        </p:nvSpPr>
        <p:spPr>
          <a:xfrm>
            <a:off x="7886700" y="3352800"/>
            <a:ext cx="3238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C6D2DE"/>
                </a:solidFill>
                <a:latin typeface="PingFang SC"/>
                <a:ea typeface="PingFang SC"/>
              </a:rPr>
              <a:t>符号文件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E9D2CE1-810E-4BA7-8EE9-6577B13CE05C}"/>
              </a:ext>
            </a:extLst>
          </p:cNvPr>
          <p:cNvSpPr txBox="1"/>
          <p:nvPr/>
        </p:nvSpPr>
        <p:spPr>
          <a:xfrm>
            <a:off x="7886700" y="3600450"/>
            <a:ext cx="3238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同构建号 dSYM，不可跨构建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91BADC6-20C9-4079-B490-2D9BFF015DE4}"/>
              </a:ext>
            </a:extLst>
          </p:cNvPr>
          <p:cNvSpPr txBox="1"/>
          <p:nvPr/>
        </p:nvSpPr>
        <p:spPr>
          <a:xfrm>
            <a:off x="7886700" y="4114800"/>
            <a:ext cx="3238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C6D2DE"/>
                </a:solidFill>
                <a:latin typeface="PingFang SC"/>
                <a:ea typeface="PingFang SC"/>
              </a:rPr>
              <a:t>二进制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45C712D-F254-4523-AA07-88B5F8D3958D}"/>
              </a:ext>
            </a:extLst>
          </p:cNvPr>
          <p:cNvSpPr txBox="1"/>
          <p:nvPr/>
        </p:nvSpPr>
        <p:spPr>
          <a:xfrm>
            <a:off x="7886700" y="4362450"/>
            <a:ext cx="3238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arm64 反汇编 · 修复前 / 后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1C77778-0CDE-451B-A375-C9C4046BBA95}"/>
              </a:ext>
            </a:extLst>
          </p:cNvPr>
          <p:cNvSpPr txBox="1"/>
          <p:nvPr/>
        </p:nvSpPr>
        <p:spPr>
          <a:xfrm>
            <a:off x="7886700" y="4876800"/>
            <a:ext cx="3238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C6D2DE"/>
                </a:solidFill>
                <a:latin typeface="PingFang SC"/>
                <a:ea typeface="PingFang SC"/>
              </a:rPr>
              <a:t>符号长度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6EC336E-E625-425E-97E9-9E72517F1C2B}"/>
              </a:ext>
            </a:extLst>
          </p:cNvPr>
          <p:cNvSpPr txBox="1"/>
          <p:nvPr/>
        </p:nvSpPr>
        <p:spPr>
          <a:xfrm>
            <a:off x="7886700" y="5124450"/>
            <a:ext cx="3238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FB86B"/>
                </a:solidFill>
                <a:latin typeface="Menlo"/>
                <a:ea typeface="Menlo"/>
              </a:rPr>
              <a:t>1005 → 1181 chars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79E41B1-FD2F-4B1A-AA12-EA108470DB06}"/>
              </a:ext>
            </a:extLst>
          </p:cNvPr>
          <p:cNvSpPr txBox="1"/>
          <p:nvPr/>
        </p:nvSpPr>
        <p:spPr>
          <a:xfrm>
            <a:off x="7886700" y="5524500"/>
            <a:ext cx="3238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证据留在本地，可重跑核验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C5B42DD-3E95-4755-9B60-E86980F3B61E}"/>
              </a:ext>
            </a:extLst>
          </p:cNvPr>
          <p:cNvSpPr txBox="1"/>
          <p:nvPr/>
        </p:nvSpPr>
        <p:spPr>
          <a:xfrm>
            <a:off x="1028700" y="6191250"/>
            <a:ext cx="914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关键转折：从「哪里崩」转到「谁提前占掉了栈」——这才是可修的问题。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8FD0F3F-2205-4A3B-9FF4-8C51417A27DC}"/>
              </a:ext>
            </a:extLst>
          </p:cNvPr>
          <p:cNvSpPr txBox="1"/>
          <p:nvPr/>
        </p:nvSpPr>
        <p:spPr>
          <a:xfrm>
            <a:off x="10668000" y="643890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FBEB132-82EE-4CB6-B493-59049CA3ACA9}"/>
              </a:ext>
            </a:extLst>
          </p:cNvPr>
          <p:cNvSpPr/>
          <p:nvPr/>
        </p:nvSpPr>
        <p:spPr>
          <a:xfrm>
            <a:off x="6286500" y="1866900"/>
            <a:ext cx="5143500" cy="3771900"/>
          </a:xfrm>
          <a:prstGeom prst="roundRect">
            <a:avLst/>
          </a:prstGeom>
          <a:solidFill>
            <a:srgbClr val="0A0F14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6BAE27A-783A-4F02-A71E-CA643D35AA23}"/>
              </a:ext>
            </a:extLst>
          </p:cNvPr>
          <p:cNvSpPr/>
          <p:nvPr/>
        </p:nvSpPr>
        <p:spPr>
          <a:xfrm>
            <a:off x="762000" y="5905500"/>
            <a:ext cx="10668000" cy="5143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E8E8561-C99F-4667-8EFC-1540E17BEF1F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05 / 机制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DA045D-3B49-4167-94FC-15AC3350339D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DF2F7"/>
                </a:solidFill>
                <a:latin typeface="PingFang SC"/>
                <a:ea typeface="PingFang SC"/>
              </a:rPr>
              <a:t>一个 switch，五种视图，一个复合类型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9D5DC9-B4BC-40E6-A552-1F209628BB41}"/>
              </a:ext>
            </a:extLst>
          </p:cNvPr>
          <p:cNvSpPr txBox="1"/>
          <p:nvPr/>
        </p:nvSpPr>
        <p:spPr>
          <a:xfrm>
            <a:off x="762000" y="139065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@ViewBuilder 的 switch 不是运行时分支，而是一个编译期就已经固定大小的具体类型。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B979D3-E035-4682-A3E9-9CE2E5065C89}"/>
              </a:ext>
            </a:extLst>
          </p:cNvPr>
          <p:cNvSpPr txBox="1"/>
          <p:nvPr/>
        </p:nvSpPr>
        <p:spPr>
          <a:xfrm>
            <a:off x="762000" y="1885950"/>
            <a:ext cx="381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B86B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E577AFD-CAF1-4F49-8159-52E06A7634EC}"/>
              </a:ext>
            </a:extLst>
          </p:cNvPr>
          <p:cNvSpPr txBox="1"/>
          <p:nvPr/>
        </p:nvSpPr>
        <p:spPr>
          <a:xfrm>
            <a:off x="1200150" y="1866900"/>
            <a:ext cx="523875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返回类型是五种状态的联合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72FE622-2882-4271-8A75-0C61FEEBD425}"/>
              </a:ext>
            </a:extLst>
          </p:cNvPr>
          <p:cNvSpPr txBox="1"/>
          <p:nvPr/>
        </p:nvSpPr>
        <p:spPr>
          <a:xfrm>
            <a:off x="1200150" y="2209800"/>
            <a:ext cx="4953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每个 case 的视图类型不同，编译器用嵌套 _ConditionalContent 把它们嵌套起来，类型参数逐层展开。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8A6C8AB-ECA4-47C2-9ABF-CCDBFEBF77A5}"/>
              </a:ext>
            </a:extLst>
          </p:cNvPr>
          <p:cNvSpPr txBox="1"/>
          <p:nvPr/>
        </p:nvSpPr>
        <p:spPr>
          <a:xfrm>
            <a:off x="762000" y="3143250"/>
            <a:ext cx="381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B86B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2648F30-1740-4E97-844A-831EA50D81D3}"/>
              </a:ext>
            </a:extLst>
          </p:cNvPr>
          <p:cNvSpPr txBox="1"/>
          <p:nvPr/>
        </p:nvSpPr>
        <p:spPr>
          <a:xfrm>
            <a:off x="1200150" y="3124200"/>
            <a:ext cx="523875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类型大小在编译期就定死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EEBB0A5-D7A7-4AF4-981D-8EA046E7AA80}"/>
              </a:ext>
            </a:extLst>
          </p:cNvPr>
          <p:cNvSpPr txBox="1"/>
          <p:nvPr/>
        </p:nvSpPr>
        <p:spPr>
          <a:xfrm>
            <a:off x="1200150" y="3467100"/>
            <a:ext cx="4953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联合的大小等于最宽分支的包络；嵌套后每层还要加标签位对齐，五支叠完就是一块大缓冲区。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0489F98-A3EE-4531-8B12-D7E517AFBECA}"/>
              </a:ext>
            </a:extLst>
          </p:cNvPr>
          <p:cNvSpPr txBox="1"/>
          <p:nvPr/>
        </p:nvSpPr>
        <p:spPr>
          <a:xfrm>
            <a:off x="762000" y="4400550"/>
            <a:ext cx="381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B86B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7200E9A-50AF-4A7A-98FF-FF3AA62256A4}"/>
              </a:ext>
            </a:extLst>
          </p:cNvPr>
          <p:cNvSpPr txBox="1"/>
          <p:nvPr/>
        </p:nvSpPr>
        <p:spPr>
          <a:xfrm>
            <a:off x="1200150" y="4381500"/>
            <a:ext cx="523875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先占栈，后判断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93E86CC-3A17-4EA8-89ED-A4CF0C65F731}"/>
              </a:ext>
            </a:extLst>
          </p:cNvPr>
          <p:cNvSpPr txBox="1"/>
          <p:nvPr/>
        </p:nvSpPr>
        <p:spPr>
          <a:xfrm>
            <a:off x="1200150" y="4724400"/>
            <a:ext cx="4953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进函数时就要为整块类型腾地方，读 status 时已经在用这堆栈了；所以任何状态都会走同一条路。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1061DF5-84B3-47B3-AD64-16DE6D0A4F98}"/>
              </a:ext>
            </a:extLst>
          </p:cNvPr>
          <p:cNvSpPr txBox="1"/>
          <p:nvPr/>
        </p:nvSpPr>
        <p:spPr>
          <a:xfrm>
            <a:off x="6553200" y="21145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Menlo"/>
                <a:ea typeface="Menlo"/>
              </a:rPr>
              <a:t>TodayView.swift · 返回类型（已简化）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D4D1820-8D51-4FE1-ADD1-91F50FF759FB}"/>
              </a:ext>
            </a:extLst>
          </p:cNvPr>
          <p:cNvSpPr txBox="1"/>
          <p:nvPr/>
        </p:nvSpPr>
        <p:spPr>
          <a:xfrm>
            <a:off x="6553200" y="2400300"/>
            <a:ext cx="4667250" cy="2952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6E7D8C"/>
                </a:solidFill>
                <a:latin typeface="Menlo"/>
                <a:ea typeface="Menlo"/>
              </a:rPr>
              <a:t>// @ViewBuilder 分支展开</a:t>
            </a:r>
            <a:br/>
            <a:r>
              <a:rPr sz="1100">
                <a:solidFill>
                  <a:srgbClr val="EDF2F7"/>
                </a:solidFill>
                <a:latin typeface="Menlo"/>
                <a:ea typeface="Menlo"/>
              </a:rPr>
              <a:t>func taskFlowSection() -&gt; some View</a:t>
            </a:r>
            <a:br/>
            <a:r>
              <a:rPr sz="1100">
                <a:solidFill>
                  <a:srgbClr val="EDF2F7"/>
                </a:solidFill>
                <a:latin typeface="Menlo"/>
                <a:ea typeface="Menlo"/>
              </a:rPr>
              <a:t>  switch day.status {</a:t>
            </a:r>
            <a:br/>
            <a:r>
              <a:rPr sz="1100">
                <a:solidFill>
                  <a:srgbClr val="C6D2DE"/>
                </a:solidFill>
                <a:latin typeface="Menlo"/>
                <a:ea typeface="Menlo"/>
              </a:rPr>
              <a:t>  case .draft:     DraftView()</a:t>
            </a:r>
            <a:br/>
            <a:r>
              <a:rPr sz="1100">
                <a:solidFill>
                  <a:srgbClr val="C6D2DE"/>
                </a:solidFill>
                <a:latin typeface="Menlo"/>
                <a:ea typeface="Menlo"/>
              </a:rPr>
              <a:t>  case .execute:   ExecuteView()</a:t>
            </a:r>
            <a:br/>
            <a:r>
              <a:rPr sz="1100">
                <a:solidFill>
                  <a:srgbClr val="C6D2DE"/>
                </a:solidFill>
                <a:latin typeface="Menlo"/>
                <a:ea typeface="Menlo"/>
              </a:rPr>
              <a:t>  case .completed: CompletedView()</a:t>
            </a:r>
            <a:br/>
            <a:r>
              <a:rPr sz="1100">
                <a:solidFill>
                  <a:srgbClr val="C6D2DE"/>
                </a:solidFill>
                <a:latin typeface="Menlo"/>
                <a:ea typeface="Menlo"/>
              </a:rPr>
              <a:t>  case .expired:   ExpiredView()</a:t>
            </a:r>
            <a:br/>
            <a:r>
              <a:rPr sz="1100">
                <a:solidFill>
                  <a:srgbClr val="EDF2F7"/>
                </a:solidFill>
                <a:latin typeface="Menlo"/>
                <a:ea typeface="Menlo"/>
              </a:rPr>
              <a:t>  }</a:t>
            </a:r>
            <a:br/>
            <a:br/>
            <a:r>
              <a:rPr sz="1100">
                <a:solidFill>
                  <a:srgbClr val="6E7D8C"/>
                </a:solidFill>
                <a:latin typeface="Menlo"/>
                <a:ea typeface="Menlo"/>
              </a:rPr>
              <a:t>// 编译器看到的实际返回类型</a:t>
            </a:r>
            <a:br/>
            <a:r>
              <a:rPr sz="1100">
                <a:solidFill>
                  <a:srgbClr val="FFB86B"/>
                </a:solidFill>
                <a:latin typeface="Menlo"/>
                <a:ea typeface="Menlo"/>
              </a:rPr>
              <a:t>_ConditionalContent&lt;</a:t>
            </a:r>
            <a:br/>
            <a:r>
              <a:rPr sz="1100">
                <a:solidFill>
                  <a:srgbClr val="FFB86B"/>
                </a:solidFill>
                <a:latin typeface="Menlo"/>
                <a:ea typeface="Menlo"/>
              </a:rPr>
              <a:t>  _ConditionalContent&lt;</a:t>
            </a:r>
            <a:br/>
            <a:r>
              <a:rPr sz="1100">
                <a:solidFill>
                  <a:srgbClr val="FFB86B"/>
                </a:solidFill>
                <a:latin typeface="Menlo"/>
                <a:ea typeface="Menlo"/>
              </a:rPr>
              <a:t>    _ConditionalContent&lt;</a:t>
            </a:r>
            <a:br/>
            <a:r>
              <a:rPr sz="1100">
                <a:solidFill>
                  <a:srgbClr val="FFB86B"/>
                </a:solidFill>
                <a:latin typeface="Menlo"/>
                <a:ea typeface="Menlo"/>
              </a:rPr>
              <a:t>      Draft, Execute&gt;,</a:t>
            </a:r>
            <a:br/>
            <a:r>
              <a:rPr sz="1100">
                <a:solidFill>
                  <a:srgbClr val="FFB86B"/>
                </a:solidFill>
                <a:latin typeface="Menlo"/>
                <a:ea typeface="Menlo"/>
              </a:rPr>
              <a:t>    Completed&gt;,</a:t>
            </a:r>
            <a:br/>
            <a:r>
              <a:rPr sz="1100">
                <a:solidFill>
                  <a:srgbClr val="FFB86B"/>
                </a:solidFill>
                <a:latin typeface="Menlo"/>
                <a:ea typeface="Menlo"/>
              </a:rPr>
              <a:t>  Expired&gt;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02255AD-8264-4BD0-B6C3-275DB1E050DE}"/>
              </a:ext>
            </a:extLst>
          </p:cNvPr>
          <p:cNvSpPr txBox="1"/>
          <p:nvPr/>
        </p:nvSpPr>
        <p:spPr>
          <a:xfrm>
            <a:off x="1028700" y="6038850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所以不是某个分支写错了，而是无论走哪个分支，进函数时都已经付了五种视图的栈钱。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B676458-1FBC-4E50-9EAA-F410CD4BB77F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414E8780-65B7-4CC5-864C-F2F2B513CE33}"/>
              </a:ext>
            </a:extLst>
          </p:cNvPr>
          <p:cNvSpPr/>
          <p:nvPr/>
        </p:nvSpPr>
        <p:spPr>
          <a:xfrm>
            <a:off x="762000" y="1905000"/>
            <a:ext cx="5905500" cy="3810000"/>
          </a:xfrm>
          <a:prstGeom prst="roundRect">
            <a:avLst/>
          </a:prstGeom>
          <a:solidFill>
            <a:srgbClr val="0A0F14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2725A50-799D-4722-B111-DCCFB7F89EA2}"/>
              </a:ext>
            </a:extLst>
          </p:cNvPr>
          <p:cNvSpPr/>
          <p:nvPr/>
        </p:nvSpPr>
        <p:spPr>
          <a:xfrm>
            <a:off x="7048500" y="1905000"/>
            <a:ext cx="4381500" cy="12382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54F433B-C2ED-4601-B827-CB95A109724D}"/>
              </a:ext>
            </a:extLst>
          </p:cNvPr>
          <p:cNvSpPr/>
          <p:nvPr/>
        </p:nvSpPr>
        <p:spPr>
          <a:xfrm>
            <a:off x="762000" y="5981700"/>
            <a:ext cx="10668000" cy="4953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0ED59FD-326C-449D-8A4F-5A9276C15DAD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06 / 证据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1525C1-4303-4827-8E14-81768AF25B12}"/>
              </a:ext>
            </a:extLst>
          </p:cNvPr>
          <p:cNvSpPr txBox="1"/>
          <p:nvPr/>
        </p:nvSpPr>
        <p:spPr>
          <a:xfrm>
            <a:off x="762000" y="781050"/>
            <a:ext cx="106680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EDF2F7"/>
                </a:solidFill>
                <a:latin typeface="PingFang SC"/>
                <a:ea typeface="PingFang SC"/>
              </a:rPr>
              <a:t>11 次栈探测，全部早于 status 判断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6807F4-E944-40A5-B0E0-97DF0117B014}"/>
              </a:ext>
            </a:extLst>
          </p:cNvPr>
          <p:cNvSpPr txBox="1"/>
          <p:nvPr/>
        </p:nvSpPr>
        <p:spPr>
          <a:xfrm>
            <a:off x="762000" y="13906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把 Release 二进制拆开看：栈不是用超的，是进入函数时就已经被预定完了。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1AA56FC-2F63-44DC-9B3E-CE690391AC7D}"/>
              </a:ext>
            </a:extLst>
          </p:cNvPr>
          <p:cNvSpPr txBox="1"/>
          <p:nvPr/>
        </p:nvSpPr>
        <p:spPr>
          <a:xfrm>
            <a:off x="1028700" y="215265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Menlo"/>
                <a:ea typeface="Menlo"/>
              </a:rPr>
              <a:t>arm64 反汇编 · 结构示意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E49E68-D258-465E-921F-617797BBFE43}"/>
              </a:ext>
            </a:extLst>
          </p:cNvPr>
          <p:cNvSpPr txBox="1"/>
          <p:nvPr/>
        </p:nvSpPr>
        <p:spPr>
          <a:xfrm>
            <a:off x="1028700" y="2476500"/>
            <a:ext cx="53340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6E7D8C"/>
                </a:solidFill>
                <a:latin typeface="Menlo"/>
                <a:ea typeface="Menlo"/>
              </a:rPr>
              <a:t>; 函数序言，每次进入都执行</a:t>
            </a:r>
            <a:br/>
            <a:r>
              <a:rPr sz="1300">
                <a:solidFill>
                  <a:srgbClr val="C6D2DE"/>
                </a:solidFill>
                <a:latin typeface="Menlo"/>
                <a:ea typeface="Menlo"/>
              </a:rPr>
              <a:t>ldur x8, [x8, #-0x8]     </a:t>
            </a:r>
            <a:r>
              <a:rPr sz="1300">
                <a:solidFill>
                  <a:srgbClr val="6E7D8C"/>
                </a:solidFill>
                <a:latin typeface="Menlo"/>
                <a:ea typeface="Menlo"/>
              </a:rPr>
              <a:t>; -&gt; VWT</a:t>
            </a:r>
            <a:br/>
            <a:r>
              <a:rPr sz="1300">
                <a:solidFill>
                  <a:srgbClr val="C6D2DE"/>
                </a:solidFill>
                <a:latin typeface="Menlo"/>
                <a:ea typeface="Menlo"/>
              </a:rPr>
              <a:t>ldr  x9, [x9, #0x40]     </a:t>
            </a:r>
            <a:r>
              <a:rPr sz="1300">
                <a:solidFill>
                  <a:srgbClr val="6E7D8C"/>
                </a:solidFill>
                <a:latin typeface="Menlo"/>
                <a:ea typeface="Menlo"/>
              </a:rPr>
              <a:t>; -&gt; 类型大小</a:t>
            </a:r>
            <a:br/>
            <a:r>
              <a:rPr sz="1300">
                <a:solidFill>
                  <a:srgbClr val="C6D2DE"/>
                </a:solidFill>
                <a:latin typeface="Menlo"/>
                <a:ea typeface="Menlo"/>
              </a:rPr>
              <a:t>bl   ___chkstk_darwin    </a:t>
            </a:r>
            <a:r>
              <a:rPr sz="1300">
                <a:solidFill>
                  <a:srgbClr val="FFB86B"/>
                </a:solidFill>
                <a:latin typeface="Menlo"/>
                <a:ea typeface="Menlo"/>
              </a:rPr>
              <a:t>; 探栈 × 11</a:t>
            </a:r>
            <a:br/>
            <a:r>
              <a:rPr sz="1300">
                <a:solidFill>
                  <a:srgbClr val="C6D2DE"/>
                </a:solidFill>
                <a:latin typeface="Menlo"/>
                <a:ea typeface="Menlo"/>
              </a:rPr>
              <a:t>sub  sp, sp, x9         </a:t>
            </a:r>
            <a:r>
              <a:rPr sz="1300">
                <a:solidFill>
                  <a:srgbClr val="FFB86B"/>
                </a:solidFill>
                <a:latin typeface="Menlo"/>
                <a:ea typeface="Menlo"/>
              </a:rPr>
              <a:t>; 按大小预留</a:t>
            </a:r>
            <a:br/>
            <a:r>
              <a:rPr sz="1300">
                <a:solidFill>
                  <a:srgbClr val="6E7D8C"/>
                </a:solidFill>
                <a:latin typeface="Menlo"/>
                <a:ea typeface="Menlo"/>
              </a:rPr>
              <a:t>        ...</a:t>
            </a:r>
            <a:br/>
            <a:r>
              <a:rPr sz="1300">
                <a:solidFill>
                  <a:srgbClr val="C6D2DE"/>
                </a:solidFill>
                <a:latin typeface="Menlo"/>
                <a:ea typeface="Menlo"/>
              </a:rPr>
              <a:t>ldrb w8, [x19, #0x18]   </a:t>
            </a:r>
            <a:r>
              <a:rPr sz="1300">
                <a:solidFill>
                  <a:srgbClr val="6FD3E0"/>
                </a:solidFill>
                <a:latin typeface="Menlo"/>
                <a:ea typeface="Menlo"/>
              </a:rPr>
              <a:t>; 此刻才读 status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107A476-EE9D-4225-BE2F-41408EF66F63}"/>
              </a:ext>
            </a:extLst>
          </p:cNvPr>
          <p:cNvSpPr txBox="1"/>
          <p:nvPr/>
        </p:nvSpPr>
        <p:spPr>
          <a:xfrm>
            <a:off x="7315200" y="2171700"/>
            <a:ext cx="104775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FFB86B"/>
                </a:solidFill>
                <a:latin typeface="Menlo"/>
                <a:ea typeface="Menlo"/>
              </a:rPr>
              <a:t>11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79A17E1-81F4-4471-B866-609EE1CF91C5}"/>
              </a:ext>
            </a:extLst>
          </p:cNvPr>
          <p:cNvSpPr txBox="1"/>
          <p:nvPr/>
        </p:nvSpPr>
        <p:spPr>
          <a:xfrm>
            <a:off x="8382000" y="2209800"/>
            <a:ext cx="2286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次栈探测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9053FD3-8062-4818-B664-EDF223AAE3FD}"/>
              </a:ext>
            </a:extLst>
          </p:cNvPr>
          <p:cNvSpPr txBox="1"/>
          <p:nvPr/>
        </p:nvSpPr>
        <p:spPr>
          <a:xfrm>
            <a:off x="8382000" y="2533650"/>
            <a:ext cx="2667000" cy="4389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全部发生在读取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day.status 之前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6BA88CF-F1F0-4306-A306-4E8E8E0BEA4E}"/>
              </a:ext>
            </a:extLst>
          </p:cNvPr>
          <p:cNvSpPr txBox="1"/>
          <p:nvPr/>
        </p:nvSpPr>
        <p:spPr>
          <a:xfrm>
            <a:off x="7067550" y="3429000"/>
            <a:ext cx="4191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DF2F7"/>
                </a:solidFill>
                <a:latin typeface="PingFang SC"/>
                <a:ea typeface="PingFang SC"/>
              </a:rPr>
              <a:t>序言即付钱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A8C868B-77D0-483D-81E1-F63E9C84799E}"/>
              </a:ext>
            </a:extLst>
          </p:cNvPr>
          <p:cNvSpPr txBox="1"/>
          <p:nvPr/>
        </p:nvSpPr>
        <p:spPr>
          <a:xfrm>
            <a:off x="7067550" y="3695700"/>
            <a:ext cx="4191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chkstk 与 sub sp 都在函数序言，与当前是哪个状态无关。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20834AF-A3ED-4FAD-AC74-7506A7B5FB41}"/>
              </a:ext>
            </a:extLst>
          </p:cNvPr>
          <p:cNvSpPr txBox="1"/>
          <p:nvPr/>
        </p:nvSpPr>
        <p:spPr>
          <a:xfrm>
            <a:off x="7067550" y="4267200"/>
            <a:ext cx="4191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DF2F7"/>
                </a:solidFill>
                <a:latin typeface="PingFang SC"/>
                <a:ea typeface="PingFang SC"/>
              </a:rPr>
              <a:t>大小来自类型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6F5373D-D377-4976-93E6-88444A4ABCCA}"/>
              </a:ext>
            </a:extLst>
          </p:cNvPr>
          <p:cNvSpPr txBox="1"/>
          <p:nvPr/>
        </p:nvSpPr>
        <p:spPr>
          <a:xfrm>
            <a:off x="7067550" y="4533900"/>
            <a:ext cx="41910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metadata → VWT → size，五个分支各读一次，才会出现 11 次。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6BE2BE4-6F22-4644-83E3-865CE4335AB7}"/>
              </a:ext>
            </a:extLst>
          </p:cNvPr>
          <p:cNvSpPr txBox="1"/>
          <p:nvPr/>
        </p:nvSpPr>
        <p:spPr>
          <a:xfrm>
            <a:off x="7067550" y="5105400"/>
            <a:ext cx="4191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EDF2F7"/>
                </a:solidFill>
                <a:latin typeface="PingFang SC"/>
                <a:ea typeface="PingFang SC"/>
              </a:rPr>
              <a:t>与状态无关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6F36BA9-927E-4608-BF7F-30834518ACB3}"/>
              </a:ext>
            </a:extLst>
          </p:cNvPr>
          <p:cNvSpPr txBox="1"/>
          <p:nvPr/>
        </p:nvSpPr>
        <p:spPr>
          <a:xfrm>
            <a:off x="7067550" y="5372100"/>
            <a:ext cx="4191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任何状态都走同一条序言，所以 draft 当天同样必崩。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805C6C6-1AD2-4430-9F3B-70AE442BCF47}"/>
              </a:ext>
            </a:extLst>
          </p:cNvPr>
          <p:cNvSpPr txBox="1"/>
          <p:nvPr/>
        </p:nvSpPr>
        <p:spPr>
          <a:xfrm>
            <a:off x="1028700" y="6105525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旧闭包：19 次泛型实例化 + 11 次动态分配，全部发生在比较 status 之前。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A7C3F62-EA09-40DE-B7D7-CE0115AD37F0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B0554F2-AF51-4987-B175-76CE843D1C88}"/>
              </a:ext>
            </a:extLst>
          </p:cNvPr>
          <p:cNvSpPr/>
          <p:nvPr/>
        </p:nvSpPr>
        <p:spPr>
          <a:xfrm>
            <a:off x="762000" y="1905000"/>
            <a:ext cx="5143500" cy="1762125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8D40D1C-9462-48C3-9965-5DB64919D5BB}"/>
              </a:ext>
            </a:extLst>
          </p:cNvPr>
          <p:cNvSpPr/>
          <p:nvPr/>
        </p:nvSpPr>
        <p:spPr>
          <a:xfrm>
            <a:off x="6286500" y="1905000"/>
            <a:ext cx="5143500" cy="1762125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1C9E7A0-9A49-408D-ACC4-88E419F0C25C}"/>
              </a:ext>
            </a:extLst>
          </p:cNvPr>
          <p:cNvSpPr/>
          <p:nvPr/>
        </p:nvSpPr>
        <p:spPr>
          <a:xfrm>
            <a:off x="762000" y="3857625"/>
            <a:ext cx="5143500" cy="1762125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A768A0D-4CDC-4187-983E-709E9841421C}"/>
              </a:ext>
            </a:extLst>
          </p:cNvPr>
          <p:cNvSpPr/>
          <p:nvPr/>
        </p:nvSpPr>
        <p:spPr>
          <a:xfrm>
            <a:off x="6286500" y="3857625"/>
            <a:ext cx="5143500" cy="1762125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B90D3DF-3BCB-428C-843C-67BFAF6379F2}"/>
              </a:ext>
            </a:extLst>
          </p:cNvPr>
          <p:cNvSpPr/>
          <p:nvPr/>
        </p:nvSpPr>
        <p:spPr>
          <a:xfrm>
            <a:off x="762000" y="5943600"/>
            <a:ext cx="10668000" cy="5143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DF1E9E-2183-4AB2-BCB9-CC11A51A5007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07 / 变量对比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BD8C730-9A94-4363-8924-A871ADBD38C9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结构没变，类型变大了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8C13835-584F-4CB7-A3EE-8B24A138BD03}"/>
              </a:ext>
            </a:extLst>
          </p:cNvPr>
          <p:cNvSpPr txBox="1"/>
          <p:nvPr/>
        </p:nvSpPr>
        <p:spPr>
          <a:xfrm>
            <a:off x="762000" y="1390650"/>
            <a:ext cx="1047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对比 1.2 (2) 与 1.2 (3)：次数完全一致，变的是每一次的大小。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A803FF9-B7A5-4065-B698-CEA17EE7842D}"/>
              </a:ext>
            </a:extLst>
          </p:cNvPr>
          <p:cNvSpPr txBox="1"/>
          <p:nvPr/>
        </p:nvSpPr>
        <p:spPr>
          <a:xfrm>
            <a:off x="1028700" y="21526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PingFang SC"/>
                <a:ea typeface="PingFang SC"/>
              </a:rPr>
              <a:t>闭包返回类型符号长度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ACCB10E-4B35-4008-BA34-DAEFCE669201}"/>
              </a:ext>
            </a:extLst>
          </p:cNvPr>
          <p:cNvSpPr txBox="1"/>
          <p:nvPr/>
        </p:nvSpPr>
        <p:spPr>
          <a:xfrm>
            <a:off x="1028700" y="2438400"/>
            <a:ext cx="4762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B86B"/>
                </a:solidFill>
                <a:latin typeface="Menlo"/>
                <a:ea typeface="Menlo"/>
              </a:rPr>
              <a:t>1005 → 1181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4075B67-9727-498A-9CA3-DA04A45FF4F9}"/>
              </a:ext>
            </a:extLst>
          </p:cNvPr>
          <p:cNvSpPr txBox="1"/>
          <p:nvPr/>
        </p:nvSpPr>
        <p:spPr>
          <a:xfrm>
            <a:off x="1028700" y="3124200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类型描述 +17.5%，代码路径一行没多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50F2BF8-E6E2-4428-8770-DDE0ED85CA8D}"/>
              </a:ext>
            </a:extLst>
          </p:cNvPr>
          <p:cNvSpPr txBox="1"/>
          <p:nvPr/>
        </p:nvSpPr>
        <p:spPr>
          <a:xfrm>
            <a:off x="6553200" y="21526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PingFang SC"/>
                <a:ea typeface="PingFang SC"/>
              </a:rPr>
              <a:t>chkstk 探栈次数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FF49CA2-21C7-4AD3-A81E-A5A1BFAB5085}"/>
              </a:ext>
            </a:extLst>
          </p:cNvPr>
          <p:cNvSpPr txBox="1"/>
          <p:nvPr/>
        </p:nvSpPr>
        <p:spPr>
          <a:xfrm>
            <a:off x="6553200" y="2438400"/>
            <a:ext cx="4762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DF2F7"/>
                </a:solidFill>
                <a:latin typeface="Menlo"/>
                <a:ea typeface="Menlo"/>
              </a:rPr>
              <a:t>11 = 11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1B18A8A-F18F-461F-B8AF-22C636363221}"/>
              </a:ext>
            </a:extLst>
          </p:cNvPr>
          <p:cNvSpPr txBox="1"/>
          <p:nvPr/>
        </p:nvSpPr>
        <p:spPr>
          <a:xfrm>
            <a:off x="6553200" y="3124200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两个构建完全一致，分支数没变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E8072B6-0D6B-4263-AD05-B6E8409BB726}"/>
              </a:ext>
            </a:extLst>
          </p:cNvPr>
          <p:cNvSpPr txBox="1"/>
          <p:nvPr/>
        </p:nvSpPr>
        <p:spPr>
          <a:xfrm>
            <a:off x="1028700" y="4105275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PingFang SC"/>
                <a:ea typeface="PingFang SC"/>
              </a:rPr>
              <a:t>泛型实例化次数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782BE47-BC54-47DD-9C13-B9810636776F}"/>
              </a:ext>
            </a:extLst>
          </p:cNvPr>
          <p:cNvSpPr txBox="1"/>
          <p:nvPr/>
        </p:nvSpPr>
        <p:spPr>
          <a:xfrm>
            <a:off x="1028700" y="4391025"/>
            <a:ext cx="4762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EDF2F7"/>
                </a:solidFill>
                <a:latin typeface="Menlo"/>
                <a:ea typeface="Menlo"/>
              </a:rPr>
              <a:t>19 = 19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6FD5955-C795-47C5-8F0B-84ACDA306C98}"/>
              </a:ext>
            </a:extLst>
          </p:cNvPr>
          <p:cNvSpPr txBox="1"/>
          <p:nvPr/>
        </p:nvSpPr>
        <p:spPr>
          <a:xfrm>
            <a:off x="1028700" y="5076825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运行时行为没变，只是每份更大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A6F611F-5E23-4B85-9B14-700B8856FF27}"/>
              </a:ext>
            </a:extLst>
          </p:cNvPr>
          <p:cNvSpPr txBox="1"/>
          <p:nvPr/>
        </p:nvSpPr>
        <p:spPr>
          <a:xfrm>
            <a:off x="6553200" y="4105275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PingFang SC"/>
                <a:ea typeface="PingFang SC"/>
              </a:rPr>
              <a:t>越过 1MB 的量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21B461C-679C-44B3-8789-BFE4544B35C0}"/>
              </a:ext>
            </a:extLst>
          </p:cNvPr>
          <p:cNvSpPr txBox="1"/>
          <p:nvPr/>
        </p:nvSpPr>
        <p:spPr>
          <a:xfrm>
            <a:off x="6553200" y="4391025"/>
            <a:ext cx="4762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B86B"/>
                </a:solidFill>
                <a:latin typeface="Menlo"/>
                <a:ea typeface="Menlo"/>
              </a:rPr>
              <a:t>880 B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7049410-17F2-4E9C-89DF-4D6253A64061}"/>
              </a:ext>
            </a:extLst>
          </p:cNvPr>
          <p:cNvSpPr txBox="1"/>
          <p:nvPr/>
        </p:nvSpPr>
        <p:spPr>
          <a:xfrm>
            <a:off x="6553200" y="5076825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从「刚好装得下」到「差一点」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AF14118-AEDC-4294-BA8E-8AC0E1DA23BF}"/>
              </a:ext>
            </a:extLst>
          </p:cNvPr>
          <p:cNvSpPr txBox="1"/>
          <p:nvPr/>
        </p:nvSpPr>
        <p:spPr>
          <a:xfrm>
            <a:off x="1028700" y="6067425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所以不是新代码弄坏了旧逻辑，而是旧逻辑的栈预算被抬过了真机上限。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7AD9135-393F-4747-8E08-9156DC471E80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580EA8F-AE38-4CD1-828E-380D93001194}"/>
              </a:ext>
            </a:extLst>
          </p:cNvPr>
          <p:cNvSpPr/>
          <p:nvPr/>
        </p:nvSpPr>
        <p:spPr>
          <a:xfrm>
            <a:off x="762000" y="4495800"/>
            <a:ext cx="4381500" cy="10477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976356A-00DB-416D-9A66-D3BF33058E82}"/>
              </a:ext>
            </a:extLst>
          </p:cNvPr>
          <p:cNvSpPr/>
          <p:nvPr/>
        </p:nvSpPr>
        <p:spPr>
          <a:xfrm>
            <a:off x="5715000" y="4000500"/>
            <a:ext cx="5524500" cy="15430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269581A-B811-4F77-A2E7-781B0C5D97F0}"/>
              </a:ext>
            </a:extLst>
          </p:cNvPr>
          <p:cNvSpPr/>
          <p:nvPr/>
        </p:nvSpPr>
        <p:spPr>
          <a:xfrm>
            <a:off x="762000" y="5753100"/>
            <a:ext cx="10668000" cy="51435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D1611D2-EB33-412D-9844-D4A984C8BD6B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08 / 为什么测不出来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EAD2DE7-BAA6-40DA-A43E-BF1DB62AFEC7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8 MB 模拟器，1 MB 真机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451106B-9727-4D0E-9D8C-6C312724AC0E}"/>
              </a:ext>
            </a:extLst>
          </p:cNvPr>
          <p:cNvSpPr txBox="1"/>
          <p:nvPr/>
        </p:nvSpPr>
        <p:spPr>
          <a:xfrm>
            <a:off x="762000" y="13906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同一个函数，在两套环境下有 8 倍的栈余量差；再加上系统版本差，本地复现注定失效。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35F45E-C50D-4A0D-860D-FE4B4C0D2F3E}"/>
              </a:ext>
            </a:extLst>
          </p:cNvPr>
          <p:cNvSpPr txBox="1"/>
          <p:nvPr/>
        </p:nvSpPr>
        <p:spPr>
          <a:xfrm>
            <a:off x="762000" y="2019300"/>
            <a:ext cx="4000500" cy="1809750"/>
          </a:xfrm>
        </p:spPr>
        <p:txBody>
          <a:bodyPr wrap="square" rtlCol="0" lIns="0" tIns="0" rIns="0" bIns="0" anchor="t"/>
          <a:lstStyle/>
          <a:p>
            <a:pPr algn="l"/>
            <a:r>
              <a:rPr sz="11000" b="1">
                <a:solidFill>
                  <a:srgbClr val="6FD3E0"/>
                </a:solidFill>
                <a:latin typeface="Menlo"/>
                <a:ea typeface="Menlo"/>
              </a:rPr>
              <a:t>8×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6D182D0-A956-47D6-887D-C3905E0279CE}"/>
              </a:ext>
            </a:extLst>
          </p:cNvPr>
          <p:cNvSpPr txBox="1"/>
          <p:nvPr/>
        </p:nvSpPr>
        <p:spPr>
          <a:xfrm>
            <a:off x="762000" y="4038600"/>
            <a:ext cx="4000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模拟器 8 MB ÷ 真机 1 MB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5FE612D-5ACB-47F6-83FD-BC11EDB20633}"/>
              </a:ext>
            </a:extLst>
          </p:cNvPr>
          <p:cNvSpPr txBox="1"/>
          <p:nvPr/>
        </p:nvSpPr>
        <p:spPr>
          <a:xfrm>
            <a:off x="1028700" y="4724400"/>
            <a:ext cx="4000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PingFang SC"/>
                <a:ea typeface="PingFang SC"/>
              </a:rPr>
              <a:t>本机 Runtime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B807FC1-206C-474B-9BA4-586B1404624A}"/>
              </a:ext>
            </a:extLst>
          </p:cNvPr>
          <p:cNvSpPr txBox="1"/>
          <p:nvPr/>
        </p:nvSpPr>
        <p:spPr>
          <a:xfrm>
            <a:off x="1028700" y="4991100"/>
            <a:ext cx="390525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Xcode 只装了 iOS 26.2 runtime，真机是 iOS 27.0.1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087060D-06DC-4233-96E3-BFB68B578B97}"/>
              </a:ext>
            </a:extLst>
          </p:cNvPr>
          <p:cNvSpPr txBox="1"/>
          <p:nvPr/>
        </p:nvSpPr>
        <p:spPr>
          <a:xfrm>
            <a:off x="5715000" y="200025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模拟器主线程栈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2F03C10-BF7B-47E1-A88E-854EE520F5BC}"/>
              </a:ext>
            </a:extLst>
          </p:cNvPr>
          <p:cNvSpPr/>
          <p:nvPr/>
        </p:nvSpPr>
        <p:spPr>
          <a:xfrm>
            <a:off x="5715000" y="2286000"/>
            <a:ext cx="4572000" cy="247650"/>
          </a:xfrm>
          <a:prstGeom prst="rect">
            <a:avLst/>
          </a:prstGeom>
          <a:solidFill>
            <a:srgbClr val="6FD3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E0EAF5C-DBBF-4DF3-918C-C86639B8C8A9}"/>
              </a:ext>
            </a:extLst>
          </p:cNvPr>
          <p:cNvSpPr txBox="1"/>
          <p:nvPr/>
        </p:nvSpPr>
        <p:spPr>
          <a:xfrm>
            <a:off x="10401300" y="2247900"/>
            <a:ext cx="95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6FD3E0"/>
                </a:solidFill>
                <a:latin typeface="Menlo"/>
                <a:ea typeface="Menlo"/>
              </a:rPr>
              <a:t>8 MB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A56DE84-6B02-4D47-ACF0-93EF3A05D7EB}"/>
              </a:ext>
            </a:extLst>
          </p:cNvPr>
          <p:cNvSpPr txBox="1"/>
          <p:nvPr/>
        </p:nvSpPr>
        <p:spPr>
          <a:xfrm>
            <a:off x="5715000" y="297180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真机主线程栈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510B38A-FB1A-4909-9593-A69BD4EC2E63}"/>
              </a:ext>
            </a:extLst>
          </p:cNvPr>
          <p:cNvSpPr/>
          <p:nvPr/>
        </p:nvSpPr>
        <p:spPr>
          <a:xfrm>
            <a:off x="5715000" y="3257550"/>
            <a:ext cx="571500" cy="247650"/>
          </a:xfrm>
          <a:prstGeom prst="rect">
            <a:avLst/>
          </a:prstGeom>
          <a:solidFill>
            <a:srgbClr val="FFB86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F0AD178-DF2D-40AC-A0E3-F02A59FA4EAC}"/>
              </a:ext>
            </a:extLst>
          </p:cNvPr>
          <p:cNvSpPr txBox="1"/>
          <p:nvPr/>
        </p:nvSpPr>
        <p:spPr>
          <a:xfrm>
            <a:off x="6400800" y="3219450"/>
            <a:ext cx="952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FFB86B"/>
                </a:solidFill>
                <a:latin typeface="Menlo"/>
                <a:ea typeface="Menlo"/>
              </a:rPr>
              <a:t>1 MB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96DF6AD-D505-4BF6-B77C-72869122E104}"/>
              </a:ext>
            </a:extLst>
          </p:cNvPr>
          <p:cNvSpPr txBox="1"/>
          <p:nvPr/>
        </p:nvSpPr>
        <p:spPr>
          <a:xfrm>
            <a:off x="5981700" y="4229100"/>
            <a:ext cx="47625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DF2F7"/>
                </a:solidFill>
                <a:latin typeface="PingFang SC"/>
                <a:ea typeface="PingFang SC"/>
              </a:rPr>
              <a:t>为什么本地看不见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AF64A1F-A971-4A92-A6B4-0E471A1EAC29}"/>
              </a:ext>
            </a:extLst>
          </p:cNvPr>
          <p:cNvSpPr txBox="1"/>
          <p:nvPr/>
        </p:nvSpPr>
        <p:spPr>
          <a:xfrm>
            <a:off x="5981700" y="4572000"/>
            <a:ext cx="49530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栈差 8 倍：本地需 8MB 才溢出，真机 1MB 就崩</a:t>
            </a:r>
            <a:br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版本差：本机没有 iOS 27 runtime</a:t>
            </a:r>
            <a:br/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主题、数据、启动次数：不改变这段类型预算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B4893AB-7FAD-4F40-9561-4FF8DE2B8746}"/>
              </a:ext>
            </a:extLst>
          </p:cNvPr>
          <p:cNvSpPr txBox="1"/>
          <p:nvPr/>
        </p:nvSpPr>
        <p:spPr>
          <a:xfrm>
            <a:off x="1028700" y="5876925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所以「本地跑不起来」不是运气，而是环境差异：栈大小不同，系统版本也不同。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458943A-0845-415E-8718-406E9C55F3DC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37267DA-C551-4006-9AFB-85429E1769C5}"/>
              </a:ext>
            </a:extLst>
          </p:cNvPr>
          <p:cNvSpPr/>
          <p:nvPr/>
        </p:nvSpPr>
        <p:spPr>
          <a:xfrm>
            <a:off x="762000" y="1809750"/>
            <a:ext cx="3362325" cy="1905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25A98CB-51CA-408D-8B53-161919A2BCA1}"/>
              </a:ext>
            </a:extLst>
          </p:cNvPr>
          <p:cNvSpPr/>
          <p:nvPr/>
        </p:nvSpPr>
        <p:spPr>
          <a:xfrm>
            <a:off x="4410075" y="1809750"/>
            <a:ext cx="3362325" cy="1905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5642FF2-DCBA-4565-A309-37D27852A0A7}"/>
              </a:ext>
            </a:extLst>
          </p:cNvPr>
          <p:cNvSpPr/>
          <p:nvPr/>
        </p:nvSpPr>
        <p:spPr>
          <a:xfrm>
            <a:off x="8058150" y="1809750"/>
            <a:ext cx="3362325" cy="1905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BC79EFC-0343-4FEE-BBF9-42575949C7CF}"/>
              </a:ext>
            </a:extLst>
          </p:cNvPr>
          <p:cNvSpPr/>
          <p:nvPr/>
        </p:nvSpPr>
        <p:spPr>
          <a:xfrm>
            <a:off x="762000" y="3924300"/>
            <a:ext cx="10668000" cy="2209800"/>
          </a:xfrm>
          <a:prstGeom prst="roundRect">
            <a:avLst/>
          </a:prstGeom>
          <a:solidFill>
            <a:srgbClr val="0A0F14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E5F2D59-C7A5-4D52-BD48-6E5738329303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09 / 修复设计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427681C-8A5F-4244-BA12-98475061D7D0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把 5 份预算拆成 1 份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09F7D7-A9EC-4C3C-B18C-77C75A1DA828}"/>
              </a:ext>
            </a:extLst>
          </p:cNvPr>
          <p:cNvSpPr txBox="1"/>
          <p:nvPr/>
        </p:nvSpPr>
        <p:spPr>
          <a:xfrm>
            <a:off x="762000" y="13906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不改界面，不改状态机；只改变「谁在什么时候为哪一块类型掏栈空间」。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5B445B9-4BF7-4F7C-AA4C-30CE7E765451}"/>
              </a:ext>
            </a:extLst>
          </p:cNvPr>
          <p:cNvSpPr txBox="1"/>
          <p:nvPr/>
        </p:nvSpPr>
        <p:spPr>
          <a:xfrm>
            <a:off x="1028700" y="203835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0E918C-3B59-453A-BB3F-3722C595F73F}"/>
              </a:ext>
            </a:extLst>
          </p:cNvPr>
          <p:cNvSpPr txBox="1"/>
          <p:nvPr/>
        </p:nvSpPr>
        <p:spPr>
          <a:xfrm>
            <a:off x="1028700" y="2305050"/>
            <a:ext cx="2857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分支隔离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4E46CA-BBC1-4FE2-86DA-5379C9D58FF9}"/>
              </a:ext>
            </a:extLst>
          </p:cNvPr>
          <p:cNvSpPr txBox="1"/>
          <p:nvPr/>
        </p:nvSpPr>
        <p:spPr>
          <a:xfrm>
            <a:off x="1028700" y="2667000"/>
            <a:ext cx="2905125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每个状态放进自己的函数，加 @inline(never) 保证它是一块独立、可销毁的栈帧。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8869BA6-E084-4C14-ABC6-23C811D9D618}"/>
              </a:ext>
            </a:extLst>
          </p:cNvPr>
          <p:cNvSpPr txBox="1"/>
          <p:nvPr/>
        </p:nvSpPr>
        <p:spPr>
          <a:xfrm>
            <a:off x="4676775" y="203835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5749A1-3558-460E-AA57-AFA70FACCD6E}"/>
              </a:ext>
            </a:extLst>
          </p:cNvPr>
          <p:cNvSpPr txBox="1"/>
          <p:nvPr/>
        </p:nvSpPr>
        <p:spPr>
          <a:xfrm>
            <a:off x="4676775" y="2305050"/>
            <a:ext cx="2857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单点占栈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DCC0514-9869-48A3-8FBE-C0459A595D56}"/>
              </a:ext>
            </a:extLst>
          </p:cNvPr>
          <p:cNvSpPr txBox="1"/>
          <p:nvPr/>
        </p:nvSpPr>
        <p:spPr>
          <a:xfrm>
            <a:off x="4676775" y="2667000"/>
            <a:ext cx="2905125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switch 只持一个固定大小的 AnyView；五份预留变成一份按需。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36EFD2D-B87C-47E4-9A5C-7C5225060FF5}"/>
              </a:ext>
            </a:extLst>
          </p:cNvPr>
          <p:cNvSpPr txBox="1"/>
          <p:nvPr/>
        </p:nvSpPr>
        <p:spPr>
          <a:xfrm>
            <a:off x="8324850" y="2038350"/>
            <a:ext cx="57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06A0FA8-D592-4EB9-8BF6-198C78898E65}"/>
              </a:ext>
            </a:extLst>
          </p:cNvPr>
          <p:cNvSpPr txBox="1"/>
          <p:nvPr/>
        </p:nvSpPr>
        <p:spPr>
          <a:xfrm>
            <a:off x="8324850" y="2305050"/>
            <a:ext cx="2857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EDF2F7"/>
                </a:solidFill>
                <a:latin typeface="PingFang SC"/>
                <a:ea typeface="PingFang SC"/>
              </a:rPr>
              <a:t>外层同法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4C39CFC-5977-467F-BAA2-36A96E321E02}"/>
              </a:ext>
            </a:extLst>
          </p:cNvPr>
          <p:cNvSpPr txBox="1"/>
          <p:nvPr/>
        </p:nvSpPr>
        <p:spPr>
          <a:xfrm>
            <a:off x="8324850" y="2667000"/>
            <a:ext cx="2905125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8B9AAA"/>
                </a:solidFill>
                <a:latin typeface="PingFang SC"/>
                <a:ea typeface="PingFang SC"/>
              </a:rPr>
              <a:t>状态卡与截止时间卡同样擦除，让今日页最外层的类型也变小。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E2E26F2-957C-4076-98D3-45E0BF40659F}"/>
              </a:ext>
            </a:extLst>
          </p:cNvPr>
          <p:cNvSpPr txBox="1"/>
          <p:nvPr/>
        </p:nvSpPr>
        <p:spPr>
          <a:xfrm>
            <a:off x="1028700" y="41529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Menlo"/>
                <a:ea typeface="Menlo"/>
              </a:rPr>
              <a:t>TodayView.swift · 只改这一个文件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E2ADDB1-6AE5-4B9D-A652-0C2CAAD7C968}"/>
              </a:ext>
            </a:extLst>
          </p:cNvPr>
          <p:cNvSpPr txBox="1"/>
          <p:nvPr/>
        </p:nvSpPr>
        <p:spPr>
          <a:xfrm>
            <a:off x="1028700" y="4400550"/>
            <a:ext cx="10096500" cy="21396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E7D8C"/>
                </a:solidFill>
                <a:latin typeface="Menlo"/>
                <a:ea typeface="Menlo"/>
              </a:rPr>
              <a:t>// 普通函数，不再是 @ViewBuilder</a:t>
            </a:r>
            <a:br/>
            <a:r>
              <a:rPr sz="1200">
                <a:solidFill>
                  <a:srgbClr val="EDF2F7"/>
                </a:solidFill>
                <a:latin typeface="Menlo"/>
                <a:ea typeface="Menlo"/>
              </a:rPr>
              <a:t>func stateContent(_ day: DayModel) -&gt; AnyView {</a:t>
            </a:r>
            <a:br/>
            <a:r>
              <a:rPr sz="1200">
                <a:solidFill>
                  <a:srgbClr val="EDF2F7"/>
                </a:solidFill>
                <a:latin typeface="Menlo"/>
                <a:ea typeface="Menlo"/>
              </a:rPr>
              <a:t>  switch day.status {</a:t>
            </a:r>
            <a:br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  case .draft:     return erasedEmptyStateContent(day)</a:t>
            </a:r>
            <a:br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  case .execute:   return erasedExecuteStateContent(day)</a:t>
            </a:r>
            <a:br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  case .completed: return erasedCompletedStateContent(day)</a:t>
            </a:r>
            <a:br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  case .expired:   return erasedExpiredStateContent(day)</a:t>
            </a:r>
            <a:br/>
            <a:r>
              <a:rPr sz="1200">
                <a:solidFill>
                  <a:srgbClr val="EDF2F7"/>
                </a:solidFill>
                <a:latin typeface="Menlo"/>
                <a:ea typeface="Menlo"/>
              </a:rPr>
              <a:t>  }</a:t>
            </a:r>
            <a:br/>
            <a:r>
              <a:rPr sz="1200">
                <a:solidFill>
                  <a:srgbClr val="6E7D8C"/>
                </a:solidFill>
                <a:latin typeface="Menlo"/>
                <a:ea typeface="Menlo"/>
              </a:rPr>
              <a:t>}  // 只有被选中的分支才会在自己的栈帧里展开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15E456D-4454-41E9-9BBB-97001F67D0A9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615BDD4-86F7-4199-BFBB-921F13CABD96}"/>
              </a:ext>
            </a:extLst>
          </p:cNvPr>
          <p:cNvSpPr/>
          <p:nvPr/>
        </p:nvSpPr>
        <p:spPr>
          <a:xfrm>
            <a:off x="857250" y="4762500"/>
            <a:ext cx="4857750" cy="9525"/>
          </a:xfrm>
          <a:prstGeom prst="rect">
            <a:avLst/>
          </a:prstGeom>
          <a:solidFill>
            <a:srgbClr val="273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4B2F214-D5F2-44D7-9733-26BFE5AD2E86}"/>
              </a:ext>
            </a:extLst>
          </p:cNvPr>
          <p:cNvSpPr/>
          <p:nvPr/>
        </p:nvSpPr>
        <p:spPr>
          <a:xfrm>
            <a:off x="1714500" y="2286000"/>
            <a:ext cx="1047750" cy="2476500"/>
          </a:xfrm>
          <a:prstGeom prst="rect">
            <a:avLst/>
          </a:prstGeom>
          <a:solidFill>
            <a:srgbClr val="FFB86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0EAE712-7157-4A27-B004-3FA83DDBF554}"/>
              </a:ext>
            </a:extLst>
          </p:cNvPr>
          <p:cNvSpPr/>
          <p:nvPr/>
        </p:nvSpPr>
        <p:spPr>
          <a:xfrm>
            <a:off x="3619500" y="4533900"/>
            <a:ext cx="1047750" cy="228600"/>
          </a:xfrm>
          <a:prstGeom prst="rect">
            <a:avLst/>
          </a:prstGeom>
          <a:solidFill>
            <a:srgbClr val="6FD3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E6F3CD1-B674-4B1A-9A5D-93DDFE6C64E2}"/>
              </a:ext>
            </a:extLst>
          </p:cNvPr>
          <p:cNvSpPr/>
          <p:nvPr/>
        </p:nvSpPr>
        <p:spPr>
          <a:xfrm>
            <a:off x="6096000" y="1809750"/>
            <a:ext cx="5334000" cy="3619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84DF6C4-C3BF-4DB6-90CE-04B917EEA1E5}"/>
              </a:ext>
            </a:extLst>
          </p:cNvPr>
          <p:cNvSpPr/>
          <p:nvPr/>
        </p:nvSpPr>
        <p:spPr>
          <a:xfrm>
            <a:off x="762000" y="5715000"/>
            <a:ext cx="10668000" cy="5334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AC93932-F747-4AF7-9DCD-D529AC87FDF5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10 / 结构验证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73F0C7C-7CAC-4B0A-BD02-7AFB27157B15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同一条路径，11 次到 1 次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BDE932C-C698-40A5-BDD7-19B66716D520}"/>
              </a:ext>
            </a:extLst>
          </p:cNvPr>
          <p:cNvSpPr txBox="1"/>
          <p:nvPr/>
        </p:nvSpPr>
        <p:spPr>
          <a:xfrm>
            <a:off x="762000" y="13906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计数方式：反汇编里 chkstk 与类型大小预留的出现次数，修复前后各数一遍。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57AACAA-ECF8-4973-80EB-87501425DB3D}"/>
              </a:ext>
            </a:extLst>
          </p:cNvPr>
          <p:cNvSpPr txBox="1"/>
          <p:nvPr/>
        </p:nvSpPr>
        <p:spPr>
          <a:xfrm>
            <a:off x="1714500" y="1695450"/>
            <a:ext cx="104775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FFB86B"/>
                </a:solidFill>
                <a:latin typeface="Menlo"/>
                <a:ea typeface="Menlo"/>
              </a:rPr>
              <a:t>11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654DEEF-D4A1-4882-B15E-9D20D470AD96}"/>
              </a:ext>
            </a:extLst>
          </p:cNvPr>
          <p:cNvSpPr txBox="1"/>
          <p:nvPr/>
        </p:nvSpPr>
        <p:spPr>
          <a:xfrm>
            <a:off x="3619500" y="3962400"/>
            <a:ext cx="1047750" cy="51435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6FD3E0"/>
                </a:solidFill>
                <a:latin typeface="Menlo"/>
                <a:ea typeface="Menlo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2FAF917-1E72-4C64-BE00-0694B34E2090}"/>
              </a:ext>
            </a:extLst>
          </p:cNvPr>
          <p:cNvSpPr txBox="1"/>
          <p:nvPr/>
        </p:nvSpPr>
        <p:spPr>
          <a:xfrm>
            <a:off x="1619250" y="48768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旧：@ViewBuilder switch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7E0AB9D-944B-4BCC-A5A8-F7F66BA3ACB1}"/>
              </a:ext>
            </a:extLst>
          </p:cNvPr>
          <p:cNvSpPr txBox="1"/>
          <p:nvPr/>
        </p:nvSpPr>
        <p:spPr>
          <a:xfrm>
            <a:off x="3524250" y="487680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新：AnyView 擦除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DCCEB19-00F4-4E93-B7BC-C2EA6CD6449A}"/>
              </a:ext>
            </a:extLst>
          </p:cNvPr>
          <p:cNvSpPr txBox="1"/>
          <p:nvPr/>
        </p:nvSpPr>
        <p:spPr>
          <a:xfrm>
            <a:off x="6362700" y="2019300"/>
            <a:ext cx="438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8B9AAA"/>
                </a:solidFill>
                <a:latin typeface="Menlo"/>
                <a:ea typeface="Menlo"/>
              </a:rPr>
              <a:t>FUNCTION LEVEL EVIDENCE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9384DF2-42F6-4FE3-8932-4FC402242E20}"/>
              </a:ext>
            </a:extLst>
          </p:cNvPr>
          <p:cNvSpPr txBox="1"/>
          <p:nvPr/>
        </p:nvSpPr>
        <p:spPr>
          <a:xfrm>
            <a:off x="6362700" y="236220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stateContent 栈帧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6A89B3D-8695-44E8-9B6E-8F9FD10C25DE}"/>
              </a:ext>
            </a:extLst>
          </p:cNvPr>
          <p:cNvSpPr txBox="1"/>
          <p:nvPr/>
        </p:nvSpPr>
        <p:spPr>
          <a:xfrm>
            <a:off x="6362700" y="2571750"/>
            <a:ext cx="4381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6FD3E0"/>
                </a:solidFill>
                <a:latin typeface="Menlo"/>
                <a:ea typeface="Menlo"/>
              </a:rPr>
              <a:t>0x60 固定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E4DA746-8769-46E3-94CC-35590EBB48D2}"/>
              </a:ext>
            </a:extLst>
          </p:cNvPr>
          <p:cNvSpPr txBox="1"/>
          <p:nvPr/>
        </p:nvSpPr>
        <p:spPr>
          <a:xfrm>
            <a:off x="6362700" y="302895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外层卡片闭包动态分配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58CFC8A-9974-4FE4-8F08-A5C2839E15DD}"/>
              </a:ext>
            </a:extLst>
          </p:cNvPr>
          <p:cNvSpPr txBox="1"/>
          <p:nvPr/>
        </p:nvSpPr>
        <p:spPr>
          <a:xfrm>
            <a:off x="6362700" y="3238500"/>
            <a:ext cx="4381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6FD3E0"/>
                </a:solidFill>
                <a:latin typeface="Menlo"/>
                <a:ea typeface="Menlo"/>
              </a:rPr>
              <a:t>0 次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D51899A-72A1-448B-8352-F43568D7C68E}"/>
              </a:ext>
            </a:extLst>
          </p:cNvPr>
          <p:cNvSpPr txBox="1"/>
          <p:nvPr/>
        </p:nvSpPr>
        <p:spPr>
          <a:xfrm>
            <a:off x="6362700" y="369570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被选中分支的分配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21CF95E-BB1E-46FA-A17D-4ACD482644C3}"/>
              </a:ext>
            </a:extLst>
          </p:cNvPr>
          <p:cNvSpPr txBox="1"/>
          <p:nvPr/>
        </p:nvSpPr>
        <p:spPr>
          <a:xfrm>
            <a:off x="6362700" y="3905250"/>
            <a:ext cx="4381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DF2F7"/>
                </a:solidFill>
                <a:latin typeface="Menlo"/>
                <a:ea typeface="Menlo"/>
              </a:rPr>
              <a:t>1 次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B838B99-817E-494B-9F7D-C87B9CBF3631}"/>
              </a:ext>
            </a:extLst>
          </p:cNvPr>
          <p:cNvSpPr txBox="1"/>
          <p:nvPr/>
        </p:nvSpPr>
        <p:spPr>
          <a:xfrm>
            <a:off x="6362700" y="436245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未被选中分支的解析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D927367-4165-470B-A336-7CF98CDE59E8}"/>
              </a:ext>
            </a:extLst>
          </p:cNvPr>
          <p:cNvSpPr txBox="1"/>
          <p:nvPr/>
        </p:nvSpPr>
        <p:spPr>
          <a:xfrm>
            <a:off x="6362700" y="4572000"/>
            <a:ext cx="4381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6FD3E0"/>
                </a:solidFill>
                <a:latin typeface="Menlo"/>
                <a:ea typeface="Menlo"/>
              </a:rPr>
              <a:t>0 次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D9D55A9-6C60-4701-AF96-CD7084DC3235}"/>
              </a:ext>
            </a:extLst>
          </p:cNvPr>
          <p:cNvSpPr txBox="1"/>
          <p:nvPr/>
        </p:nvSpPr>
        <p:spPr>
          <a:xfrm>
            <a:off x="6362700" y="4972050"/>
            <a:ext cx="47625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6E7D8C"/>
                </a:solidFill>
                <a:latin typeface="PingFang SC"/>
                <a:ea typeface="PingFang SC"/>
              </a:rPr>
              <a:t>编译器把空分支合并成一个共享 thunk，但仍只解析被选中的那一支。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C0CE57C-771F-491A-958A-1ABBE9E36526}"/>
              </a:ext>
            </a:extLst>
          </p:cNvPr>
          <p:cNvSpPr txBox="1"/>
          <p:nvPr/>
        </p:nvSpPr>
        <p:spPr>
          <a:xfrm>
            <a:off x="1028700" y="5838825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不是把崩溃点绕开，而是把「必然要付的钱」从 5 份降到 1 份。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2E451BB-2CA0-4B5A-9AD2-F7231D35EEBD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6941345-2127-482A-8127-5552A178E02E}"/>
              </a:ext>
            </a:extLst>
          </p:cNvPr>
          <p:cNvSpPr/>
          <p:nvPr/>
        </p:nvSpPr>
        <p:spPr>
          <a:xfrm>
            <a:off x="762000" y="1809750"/>
            <a:ext cx="5334000" cy="3810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F165B70-1998-4E81-8903-12AA57BF6F2B}"/>
              </a:ext>
            </a:extLst>
          </p:cNvPr>
          <p:cNvSpPr/>
          <p:nvPr/>
        </p:nvSpPr>
        <p:spPr>
          <a:xfrm>
            <a:off x="6286500" y="1809750"/>
            <a:ext cx="5334000" cy="38100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5922B8C-6002-4F1A-99B5-B3DCD2708D6B}"/>
              </a:ext>
            </a:extLst>
          </p:cNvPr>
          <p:cNvSpPr/>
          <p:nvPr/>
        </p:nvSpPr>
        <p:spPr>
          <a:xfrm>
            <a:off x="762000" y="5715000"/>
            <a:ext cx="10668000" cy="5334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384678-507C-4BCE-A7C0-5C47ABEDFB5E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11 / 验证与交付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7609E8-5AAC-47E2-B58B-F5D99FB3FDC5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本地可证，真机待测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29D282-10BD-485F-8C67-F20536BE01C3}"/>
              </a:ext>
            </a:extLst>
          </p:cNvPr>
          <p:cNvSpPr txBox="1"/>
          <p:nvPr/>
        </p:nvSpPr>
        <p:spPr>
          <a:xfrm>
            <a:off x="762000" y="13906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能把「已经证完了什么」和「还差哪一步」分开说清楚，才算真正闭环。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C402F7-1255-4318-BF42-B81E10809B36}"/>
              </a:ext>
            </a:extLst>
          </p:cNvPr>
          <p:cNvSpPr txBox="1"/>
          <p:nvPr/>
        </p:nvSpPr>
        <p:spPr>
          <a:xfrm>
            <a:off x="1028700" y="2038350"/>
            <a:ext cx="45720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DF2F7"/>
                </a:solidFill>
                <a:latin typeface="PingFang SC"/>
                <a:ea typeface="PingFang SC"/>
              </a:rPr>
              <a:t>本地完成 · 结构证据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E3B40EC-D9FA-4F09-9EF3-B94F9B923AFC}"/>
              </a:ext>
            </a:extLst>
          </p:cNvPr>
          <p:cNvSpPr txBox="1"/>
          <p:nvPr/>
        </p:nvSpPr>
        <p:spPr>
          <a:xfrm>
            <a:off x="1028700" y="2400300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D3E0"/>
                </a:solidFill>
                <a:latin typeface="Menlo"/>
                <a:ea typeface="Menlo"/>
              </a:rPr>
              <a:t>01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Release 真机编译通过（arm64）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E99DFE5-2C0F-4E11-831E-8BBE34FDBCB8}"/>
              </a:ext>
            </a:extLst>
          </p:cNvPr>
          <p:cNvSpPr txBox="1"/>
          <p:nvPr/>
        </p:nvSpPr>
        <p:spPr>
          <a:xfrm>
            <a:off x="1028700" y="2838450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D3E0"/>
                </a:solidFill>
                <a:latin typeface="Menlo"/>
                <a:ea typeface="Menlo"/>
              </a:rPr>
              <a:t>02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反汇编：11 次 → 1 次，0x60 固定帧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35C8841-43D1-47A9-867E-41A056CEED21}"/>
              </a:ext>
            </a:extLst>
          </p:cNvPr>
          <p:cNvSpPr txBox="1"/>
          <p:nvPr/>
        </p:nvSpPr>
        <p:spPr>
          <a:xfrm>
            <a:off x="1028700" y="3276600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D3E0"/>
                </a:solidFill>
                <a:latin typeface="Menlo"/>
                <a:ea typeface="Menlo"/>
              </a:rPr>
              <a:t>03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外层卡片闭包 0 次动态分配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69E9F28-93D4-42D2-A0B8-87E8CC7643AE}"/>
              </a:ext>
            </a:extLst>
          </p:cNvPr>
          <p:cNvSpPr txBox="1"/>
          <p:nvPr/>
        </p:nvSpPr>
        <p:spPr>
          <a:xfrm>
            <a:off x="1028700" y="3714750"/>
            <a:ext cx="4762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D3E0"/>
                </a:solidFill>
                <a:latin typeface="Menlo"/>
                <a:ea typeface="Menlo"/>
              </a:rPr>
              <a:t>04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只改 TodayView.swift，界面未动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34812B8-65CA-4AFF-BCDF-746C0EC9A02A}"/>
              </a:ext>
            </a:extLst>
          </p:cNvPr>
          <p:cNvSpPr txBox="1"/>
          <p:nvPr/>
        </p:nvSpPr>
        <p:spPr>
          <a:xfrm>
            <a:off x="1028700" y="4476750"/>
            <a:ext cx="4762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以上每一项都能重跑；编译产物与反汇编可直接复核。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53D0FB7-9BE2-4B6B-AAB5-F28628A164BA}"/>
              </a:ext>
            </a:extLst>
          </p:cNvPr>
          <p:cNvSpPr txBox="1"/>
          <p:nvPr/>
        </p:nvSpPr>
        <p:spPr>
          <a:xfrm>
            <a:off x="6553200" y="2038350"/>
            <a:ext cx="45720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DF2F7"/>
                </a:solidFill>
                <a:latin typeface="PingFang SC"/>
                <a:ea typeface="PingFang SC"/>
              </a:rPr>
              <a:t>发布链路 · 1.2 (4)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587C646-43FF-400A-BA5D-191B6534346E}"/>
              </a:ext>
            </a:extLst>
          </p:cNvPr>
          <p:cNvSpPr txBox="1"/>
          <p:nvPr/>
        </p:nvSpPr>
        <p:spPr>
          <a:xfrm>
            <a:off x="6553200" y="2400300"/>
            <a:ext cx="47625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B86B"/>
                </a:solidFill>
                <a:latin typeface="Menlo"/>
                <a:ea typeface="Menlo"/>
              </a:rPr>
              <a:t>1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Archive · Weekyii Beta scheme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2E82FCA-3879-4008-A8FD-D10C830556A7}"/>
              </a:ext>
            </a:extLst>
          </p:cNvPr>
          <p:cNvSpPr txBox="1"/>
          <p:nvPr/>
        </p:nvSpPr>
        <p:spPr>
          <a:xfrm>
            <a:off x="6553200" y="2857500"/>
            <a:ext cx="47625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B86B"/>
                </a:solidFill>
                <a:latin typeface="Menlo"/>
                <a:ea typeface="Menlo"/>
              </a:rPr>
              <a:t>2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Export · app-store-connect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893BEB6-97D3-49F7-964F-441DA99576BF}"/>
              </a:ext>
            </a:extLst>
          </p:cNvPr>
          <p:cNvSpPr txBox="1"/>
          <p:nvPr/>
        </p:nvSpPr>
        <p:spPr>
          <a:xfrm>
            <a:off x="6553200" y="3314700"/>
            <a:ext cx="47625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B86B"/>
                </a:solidFill>
                <a:latin typeface="Menlo"/>
                <a:ea typeface="Menlo"/>
              </a:rPr>
              <a:t>3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Upload · 构建号 3 → 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72AAA6A-F7E0-4CCE-A50F-8A8E166C0E50}"/>
              </a:ext>
            </a:extLst>
          </p:cNvPr>
          <p:cNvSpPr txBox="1"/>
          <p:nvPr/>
        </p:nvSpPr>
        <p:spPr>
          <a:xfrm>
            <a:off x="6553200" y="3771900"/>
            <a:ext cx="47625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D3E0"/>
                </a:solidFill>
                <a:latin typeface="Menlo"/>
                <a:ea typeface="Menlo"/>
              </a:rPr>
              <a:t>4  </a:t>
            </a: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ASC 处理完成 · 01:24 上传成功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F887FBC-5B7D-4A7E-92CE-A5708FB29839}"/>
              </a:ext>
            </a:extLst>
          </p:cNvPr>
          <p:cNvSpPr txBox="1"/>
          <p:nvPr/>
        </p:nvSpPr>
        <p:spPr>
          <a:xfrm>
            <a:off x="6553200" y="4400550"/>
            <a:ext cx="4762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开发签名不可用（设备未注册 + 开发证书已吊销），</a:t>
            </a:r>
            <a:br/>
            <a:r>
              <a:rPr sz="1200">
                <a:solidFill>
                  <a:srgbClr val="8B9AAA"/>
                </a:solidFill>
                <a:latin typeface="PingFang SC"/>
                <a:ea typeface="PingFang SC"/>
              </a:rPr>
              <a:t>所以这次验证只能经 TestFlight 安装，不用 Xcode 直装。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AED8F80-3DCE-446D-8056-DF5C6D9529FD}"/>
              </a:ext>
            </a:extLst>
          </p:cNvPr>
          <p:cNvSpPr txBox="1"/>
          <p:nvPr/>
        </p:nvSpPr>
        <p:spPr>
          <a:xfrm>
            <a:off x="1028700" y="5838825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结论：因果已被反汇编证实；唯一没闭环的，是真机启动这一格。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CA8E66A-39AB-4AAD-A3AC-207F5DB2535E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B76B431-702C-4347-A977-B5AF174668A8}"/>
              </a:ext>
            </a:extLst>
          </p:cNvPr>
          <p:cNvSpPr/>
          <p:nvPr/>
        </p:nvSpPr>
        <p:spPr>
          <a:xfrm>
            <a:off x="762000" y="1809750"/>
            <a:ext cx="3362325" cy="3619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11E7A91-9D30-4BB4-9729-61AEC7E06DA2}"/>
              </a:ext>
            </a:extLst>
          </p:cNvPr>
          <p:cNvSpPr/>
          <p:nvPr/>
        </p:nvSpPr>
        <p:spPr>
          <a:xfrm>
            <a:off x="4410075" y="1809750"/>
            <a:ext cx="3362325" cy="3619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A11605C-D9B4-4477-BC34-6C477594D575}"/>
              </a:ext>
            </a:extLst>
          </p:cNvPr>
          <p:cNvSpPr/>
          <p:nvPr/>
        </p:nvSpPr>
        <p:spPr>
          <a:xfrm>
            <a:off x="8058150" y="1809750"/>
            <a:ext cx="3362325" cy="36195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8E615C2-809E-4962-A2F7-9C54097A0190}"/>
              </a:ext>
            </a:extLst>
          </p:cNvPr>
          <p:cNvSpPr/>
          <p:nvPr/>
        </p:nvSpPr>
        <p:spPr>
          <a:xfrm>
            <a:off x="762000" y="5715000"/>
            <a:ext cx="10668000" cy="533400"/>
          </a:xfrm>
          <a:prstGeom prst="roundRect">
            <a:avLst/>
          </a:prstGeom>
          <a:solidFill>
            <a:srgbClr val="141B23"/>
          </a:solidFill>
          <a:ln w="12700">
            <a:solidFill>
              <a:srgbClr val="273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3A6D053-9622-472C-9E3B-DCF4A39AEAE2}"/>
              </a:ext>
            </a:extLst>
          </p:cNvPr>
          <p:cNvSpPr txBox="1"/>
          <p:nvPr/>
        </p:nvSpPr>
        <p:spPr>
          <a:xfrm>
            <a:off x="762000" y="5334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FFB86B"/>
                </a:solidFill>
                <a:latin typeface="Menlo"/>
                <a:ea typeface="Menlo"/>
              </a:rPr>
              <a:t>12 / 结论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ED6B95A-B6A0-4D90-B2E2-D7CF2549AF30}"/>
              </a:ext>
            </a:extLst>
          </p:cNvPr>
          <p:cNvSpPr txBox="1"/>
          <p:nvPr/>
        </p:nvSpPr>
        <p:spPr>
          <a:xfrm>
            <a:off x="762000" y="781050"/>
            <a:ext cx="10477500" cy="55245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EDF2F7"/>
                </a:solidFill>
                <a:latin typeface="PingFang SC"/>
                <a:ea typeface="PingFang SC"/>
              </a:rPr>
              <a:t>根因成立，修复结构成立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12E3D1-CB0F-4906-B2DE-C52F9B4CE5C5}"/>
              </a:ext>
            </a:extLst>
          </p:cNvPr>
          <p:cNvSpPr txBox="1"/>
          <p:nvPr/>
        </p:nvSpPr>
        <p:spPr>
          <a:xfrm>
            <a:off x="762000" y="1390650"/>
            <a:ext cx="1066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8B9AAA"/>
                </a:solidFill>
                <a:latin typeface="PingFang SC"/>
                <a:ea typeface="PingFang SC"/>
              </a:rPr>
              <a:t>把结论拆成三栏：已经证明的、还没证明的、和不该再犯的。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1B0265A-DCF0-4C4A-9122-A079AF2A10E2}"/>
              </a:ext>
            </a:extLst>
          </p:cNvPr>
          <p:cNvSpPr txBox="1"/>
          <p:nvPr/>
        </p:nvSpPr>
        <p:spPr>
          <a:xfrm>
            <a:off x="1028700" y="2057400"/>
            <a:ext cx="2857500" cy="25908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6FD3E0"/>
                </a:solidFill>
                <a:latin typeface="PingFang SC"/>
                <a:ea typeface="PingFang SC"/>
              </a:rPr>
              <a:t>已验证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C90E7D-2CF3-4F9F-AC7A-49FD9E8A933D}"/>
              </a:ext>
            </a:extLst>
          </p:cNvPr>
          <p:cNvSpPr txBox="1"/>
          <p:nvPr/>
        </p:nvSpPr>
        <p:spPr>
          <a:xfrm>
            <a:off x="1028700" y="2438400"/>
            <a:ext cx="2905125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根因链：@ViewBuilder switch → 复合类型 → 11 次预留 → 越界 880 B</a:t>
            </a:r>
            <a:br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修复结构：11 次降到 1 次，栈帧固定 0x60</a:t>
            </a:r>
            <a:br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符号长度 1005 → 1181，与崩溃时间点对得上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3203D2E-BEB9-4DF2-8326-E5E55D582669}"/>
              </a:ext>
            </a:extLst>
          </p:cNvPr>
          <p:cNvSpPr txBox="1"/>
          <p:nvPr/>
        </p:nvSpPr>
        <p:spPr>
          <a:xfrm>
            <a:off x="4676775" y="2057400"/>
            <a:ext cx="2857500" cy="25908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FFB86B"/>
                </a:solidFill>
                <a:latin typeface="PingFang SC"/>
                <a:ea typeface="PingFang SC"/>
              </a:rPr>
              <a:t>待验证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A1EA0B0-1B94-4217-9F4F-0FCECE337FAF}"/>
              </a:ext>
            </a:extLst>
          </p:cNvPr>
          <p:cNvSpPr txBox="1"/>
          <p:nvPr/>
        </p:nvSpPr>
        <p:spPr>
          <a:xfrm>
            <a:off x="4676775" y="2438400"/>
            <a:ext cx="2905125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1.2 (4) 在 iPhone 17 Pro Max / iOS 27.0.1 上启动</a:t>
            </a:r>
            <a:br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今日状态是 draft，正好复现原崩溃路径</a:t>
            </a:r>
            <a:br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通过信号：今日页稳定停留，不再闪退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594F522-4636-486C-86F2-A97ADB36C187}"/>
              </a:ext>
            </a:extLst>
          </p:cNvPr>
          <p:cNvSpPr txBox="1"/>
          <p:nvPr/>
        </p:nvSpPr>
        <p:spPr>
          <a:xfrm>
            <a:off x="8324850" y="2057400"/>
            <a:ext cx="2857500" cy="25908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EDF2F7"/>
                </a:solidFill>
                <a:latin typeface="PingFang SC"/>
                <a:ea typeface="PingFang SC"/>
              </a:rPr>
              <a:t>未做 · 防回归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CA528AB-2EFB-479D-98F9-79EA96A40A57}"/>
              </a:ext>
            </a:extLst>
          </p:cNvPr>
          <p:cNvSpPr txBox="1"/>
          <p:nvPr/>
        </p:nvSpPr>
        <p:spPr>
          <a:xfrm>
            <a:off x="8324850" y="2438400"/>
            <a:ext cx="2905125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全量测试套件未跑（按约定由你执行）</a:t>
            </a:r>
            <a:br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注释已写明：不要改回 @ViewBuilder switch，不要去 @inline(never)</a:t>
            </a:r>
            <a:br/>
            <a:r>
              <a:rPr sz="1300">
                <a:solidFill>
                  <a:srgbClr val="C6D2DE"/>
                </a:solidFill>
                <a:latin typeface="PingFang SC"/>
                <a:ea typeface="PingFang SC"/>
              </a:rPr>
              <a:t>构建号 3 → 4 的改动尚未提交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09F0C6D-E1F5-44F3-A3BD-6392CD9FDA0D}"/>
              </a:ext>
            </a:extLst>
          </p:cNvPr>
          <p:cNvSpPr txBox="1"/>
          <p:nvPr/>
        </p:nvSpPr>
        <p:spPr>
          <a:xfrm>
            <a:off x="1028700" y="5838825"/>
            <a:ext cx="10287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C6D2DE"/>
                </a:solidFill>
                <a:latin typeface="PingFang SC"/>
                <a:ea typeface="PingFang SC"/>
              </a:rPr>
              <a:t>下一步：在 iPhone 上把 Weekyii 更新到 1.2 (4)，打开 App，看今日页是否稳定停留。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7DD93AB-7762-4802-A86D-1CB6B0A005F9}"/>
              </a:ext>
            </a:extLst>
          </p:cNvPr>
          <p:cNvSpPr txBox="1"/>
          <p:nvPr/>
        </p:nvSpPr>
        <p:spPr>
          <a:xfrm>
            <a:off x="10668000" y="64960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E1BC77B-B96F-46EE-8AD6-26876F38E00E}"/>
              </a:ext>
            </a:extLst>
          </p:cNvPr>
          <p:cNvSpPr/>
          <p:nvPr/>
        </p:nvSpPr>
        <p:spPr>
          <a:xfrm>
            <a:off x="762000" y="3390900"/>
            <a:ext cx="10668000" cy="9525"/>
          </a:xfrm>
          <a:prstGeom prst="rect">
            <a:avLst/>
          </a:prstGeom>
          <a:solidFill>
            <a:srgbClr val="273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9F35125-446B-480A-9342-6A4B741067AC}"/>
              </a:ext>
            </a:extLst>
          </p:cNvPr>
          <p:cNvSpPr/>
          <p:nvPr/>
        </p:nvSpPr>
        <p:spPr>
          <a:xfrm>
            <a:off x="762000" y="5676900"/>
            <a:ext cx="10668000" cy="9525"/>
          </a:xfrm>
          <a:prstGeom prst="rect">
            <a:avLst/>
          </a:prstGeom>
          <a:solidFill>
            <a:srgbClr val="273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E2462B2-97A7-4109-9D93-52C9766749F6}"/>
              </a:ext>
            </a:extLst>
          </p:cNvPr>
          <p:cNvSpPr txBox="1"/>
          <p:nvPr/>
        </p:nvSpPr>
        <p:spPr>
          <a:xfrm>
            <a:off x="762000" y="6096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B86B"/>
                </a:solidFill>
                <a:latin typeface="Menlo"/>
                <a:ea typeface="Menlo"/>
              </a:rPr>
              <a:t>EPILOGUE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1EDE65F-8C9C-4CF4-BD47-C8C3640E2915}"/>
              </a:ext>
            </a:extLst>
          </p:cNvPr>
          <p:cNvSpPr txBox="1"/>
          <p:nvPr/>
        </p:nvSpPr>
        <p:spPr>
          <a:xfrm>
            <a:off x="762000" y="1733550"/>
            <a:ext cx="10477500" cy="1097280"/>
          </a:xfrm>
        </p:spPr>
        <p:txBody>
          <a:bodyPr wrap="square" rtlCol="0" lIns="0" tIns="0" rIns="0" bIns="0" anchor="t"/>
          <a:lstStyle/>
          <a:p>
            <a:pPr algn="l"/>
            <a:r>
              <a:rPr sz="7200" b="1">
                <a:solidFill>
                  <a:srgbClr val="F3F6F9"/>
                </a:solidFill>
                <a:latin typeface="PingFang SC"/>
                <a:ea typeface="PingFang SC"/>
              </a:rPr>
              <a:t>不是玄学，是预算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2A48343-919D-404B-B320-70B931BAA1EE}"/>
              </a:ext>
            </a:extLst>
          </p:cNvPr>
          <p:cNvSpPr txBox="1"/>
          <p:nvPr/>
        </p:nvSpPr>
        <p:spPr>
          <a:xfrm>
            <a:off x="762000" y="2857500"/>
            <a:ext cx="10477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2000">
                <a:solidFill>
                  <a:srgbClr val="C6D2DE"/>
                </a:solidFill>
                <a:latin typeface="PingFang SC"/>
                <a:ea typeface="PingFang SC"/>
              </a:rPr>
              <a:t>栈不会凭空消失，它只会被某段代码提前预定。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311E8D-F562-4FE7-87BD-93D140DC6694}"/>
              </a:ext>
            </a:extLst>
          </p:cNvPr>
          <p:cNvSpPr txBox="1"/>
          <p:nvPr/>
        </p:nvSpPr>
        <p:spPr>
          <a:xfrm>
            <a:off x="762000" y="373380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B9AAA"/>
                </a:solidFill>
                <a:latin typeface="PingFang SC"/>
                <a:ea typeface="PingFang SC"/>
              </a:rPr>
              <a:t>旧闭包反汇编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DB4656-E7D0-4365-BE3F-569D3778F571}"/>
              </a:ext>
            </a:extLst>
          </p:cNvPr>
          <p:cNvSpPr txBox="1"/>
          <p:nvPr/>
        </p:nvSpPr>
        <p:spPr>
          <a:xfrm>
            <a:off x="762000" y="39433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/tmp/old_taskflow.dis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8306158-2D46-49B1-80F6-49354500FD97}"/>
              </a:ext>
            </a:extLst>
          </p:cNvPr>
          <p:cNvSpPr txBox="1"/>
          <p:nvPr/>
        </p:nvSpPr>
        <p:spPr>
          <a:xfrm>
            <a:off x="762000" y="445770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B9AAA"/>
                </a:solidFill>
                <a:latin typeface="PingFang SC"/>
                <a:ea typeface="PingFang SC"/>
              </a:rPr>
              <a:t>修复后 Release 产物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B9EA8B4-B2FE-4C0B-B36E-55D78495FBBB}"/>
              </a:ext>
            </a:extLst>
          </p:cNvPr>
          <p:cNvSpPr txBox="1"/>
          <p:nvPr/>
        </p:nvSpPr>
        <p:spPr>
          <a:xfrm>
            <a:off x="762000" y="46672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/tmp/weekyii-fix-build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1ECC3-1370-4962-A7CC-75E773768790}"/>
              </a:ext>
            </a:extLst>
          </p:cNvPr>
          <p:cNvSpPr txBox="1"/>
          <p:nvPr/>
        </p:nvSpPr>
        <p:spPr>
          <a:xfrm>
            <a:off x="6286500" y="37338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B9AAA"/>
                </a:solidFill>
                <a:latin typeface="PingFang SC"/>
                <a:ea typeface="PingFang SC"/>
              </a:rPr>
              <a:t>归档与上传包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7F3F9B-87FF-42C3-8241-2F45B1272349}"/>
              </a:ext>
            </a:extLst>
          </p:cNvPr>
          <p:cNvSpPr txBox="1"/>
          <p:nvPr/>
        </p:nvSpPr>
        <p:spPr>
          <a:xfrm>
            <a:off x="6286500" y="394335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.../weekyii-release-20261025-1.2-4.xcarchive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E0B1C1C-610C-4A85-BA89-25F738EC58AD}"/>
              </a:ext>
            </a:extLst>
          </p:cNvPr>
          <p:cNvSpPr txBox="1"/>
          <p:nvPr/>
        </p:nvSpPr>
        <p:spPr>
          <a:xfrm>
            <a:off x="6286500" y="44577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8B9AAA"/>
                </a:solidFill>
                <a:latin typeface="PingFang SC"/>
                <a:ea typeface="PingFang SC"/>
              </a:rPr>
              <a:t>修复提交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69C36E0-E20C-4DCD-95B0-5939DEA033FC}"/>
              </a:ext>
            </a:extLst>
          </p:cNvPr>
          <p:cNvSpPr txBox="1"/>
          <p:nvPr/>
        </p:nvSpPr>
        <p:spPr>
          <a:xfrm>
            <a:off x="6286500" y="466725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C6D2DE"/>
                </a:solidFill>
                <a:latin typeface="Menlo"/>
                <a:ea typeface="Menlo"/>
              </a:rPr>
              <a:t>a051142 · notion-claude/feat-in-app-purchase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62D35D3-47D3-40AF-AE2D-322C3F0856A8}"/>
              </a:ext>
            </a:extLst>
          </p:cNvPr>
          <p:cNvSpPr txBox="1"/>
          <p:nvPr/>
        </p:nvSpPr>
        <p:spPr>
          <a:xfrm>
            <a:off x="762000" y="5905500"/>
            <a:ext cx="1028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6FD3E0"/>
                </a:solidFill>
                <a:latin typeface="PingFang SC"/>
                <a:ea typeface="PingFang SC"/>
              </a:rPr>
              <a:t>剩下的一格：在 iPhone 上更新到 1.2 (4)，打开 App，看今日页是否稳定。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E7C5128-FD5B-48D6-92EA-24BA5D68F751}"/>
              </a:ext>
            </a:extLst>
          </p:cNvPr>
          <p:cNvSpPr txBox="1"/>
          <p:nvPr/>
        </p:nvSpPr>
        <p:spPr>
          <a:xfrm>
            <a:off x="9144000" y="6438900"/>
            <a:ext cx="22860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200">
                <a:solidFill>
                  <a:srgbClr val="8B9AAA"/>
                </a:solidFill>
                <a:latin typeface="Menlo"/>
                <a:ea typeface="Menlo"/>
              </a:rPr>
              <a:t>2026-10-25 ·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